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0439a33e194a87" /><Relationship Type="http://schemas.openxmlformats.org/officeDocument/2006/relationships/extended-properties" Target="/docProps/app.xml" Id="Rce612d305d3e47be" /><Relationship Type="http://schemas.openxmlformats.org/officeDocument/2006/relationships/officeDocument" Target="/ppt/presentation.xml" Id="Ra826819b8a364ccc" /></Relationships>
</file>

<file path=ppt/presentation.xml><?xml version="1.0" encoding="utf-8"?>
<p:presentation xmlns:p="http://schemas.openxmlformats.org/presentationml/2006/main">
  <p:sldMasterIdLst>
    <p:sldMasterId xmlns:r="http://schemas.openxmlformats.org/officeDocument/2006/relationships" id="2147483648" r:id="R42079557f41b4c1e"/>
  </p:sldMasterIdLst>
  <p:notesMasterIdLst>
    <p:notesMasterId xmlns:r="http://schemas.openxmlformats.org/officeDocument/2006/relationships" r:id="R0c7cc3dd8ab24577"/>
  </p:notesMasterIdLst>
  <p:sldIdLst>
    <p:sldId xmlns:r="http://schemas.openxmlformats.org/officeDocument/2006/relationships" id="256" r:id="Rb177649b4bb44c3e"/>
    <p:sldId xmlns:r="http://schemas.openxmlformats.org/officeDocument/2006/relationships" id="257" r:id="R2187c57f07ba418e"/>
    <p:sldId xmlns:r="http://schemas.openxmlformats.org/officeDocument/2006/relationships" id="258" r:id="R93b134c36f6c4bff"/>
    <p:sldId xmlns:r="http://schemas.openxmlformats.org/officeDocument/2006/relationships" id="259" r:id="R86ab97b42f624e74"/>
    <p:sldId xmlns:r="http://schemas.openxmlformats.org/officeDocument/2006/relationships" id="260" r:id="R16c7d166f9934619"/>
    <p:sldId xmlns:r="http://schemas.openxmlformats.org/officeDocument/2006/relationships" id="261" r:id="Raf4b1618fbc446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90acd3c3bd4ad9" /><Relationship Type="http://schemas.openxmlformats.org/officeDocument/2006/relationships/slideMaster" Target="/ppt/slideMasters/slideMaster1.xml" Id="R42079557f41b4c1e" /><Relationship Type="http://schemas.openxmlformats.org/officeDocument/2006/relationships/notesMaster" Target="/ppt/notesMasters/notesMaster1.xml" Id="R0c7cc3dd8ab24577" /><Relationship Type="http://schemas.openxmlformats.org/officeDocument/2006/relationships/presProps" Target="/ppt/presProps.xml" Id="R17f7b8cc22af4b0d" /><Relationship Type="http://schemas.openxmlformats.org/officeDocument/2006/relationships/tableStyles" Target="/ppt/tableStyles.xml" Id="R7cdd29855152407c" /><Relationship Type="http://schemas.openxmlformats.org/officeDocument/2006/relationships/slide" Target="/ppt/slides/slide1.xml" Id="Rb177649b4bb44c3e" /><Relationship Type="http://schemas.openxmlformats.org/officeDocument/2006/relationships/slide" Target="/ppt/slides/slide2.xml" Id="R2187c57f07ba418e" /><Relationship Type="http://schemas.openxmlformats.org/officeDocument/2006/relationships/slide" Target="/ppt/slides/slide3.xml" Id="R93b134c36f6c4bff" /><Relationship Type="http://schemas.openxmlformats.org/officeDocument/2006/relationships/slide" Target="/ppt/slides/slide4.xml" Id="R86ab97b42f624e74" /><Relationship Type="http://schemas.openxmlformats.org/officeDocument/2006/relationships/slide" Target="/ppt/slides/slide5.xml" Id="R16c7d166f9934619" /><Relationship Type="http://schemas.openxmlformats.org/officeDocument/2006/relationships/slide" Target="/ppt/slides/slide6.xml" Id="Raf4b1618fbc446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7467f6e9d740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49a3ab78d046df" /><Relationship Type="http://schemas.openxmlformats.org/officeDocument/2006/relationships/notesMaster" Target="/ppt/notesMasters/notesMaster1.xml" Id="R11b075ab0aa14c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966ada720f403b" /><Relationship Type="http://schemas.openxmlformats.org/officeDocument/2006/relationships/notesMaster" Target="/ppt/notesMasters/notesMaster1.xml" Id="R0fbdd156b6c842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839681e3d34289" /><Relationship Type="http://schemas.openxmlformats.org/officeDocument/2006/relationships/notesMaster" Target="/ppt/notesMasters/notesMaster1.xml" Id="Rceb3e567d03a49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64f3f0edc94e98" /><Relationship Type="http://schemas.openxmlformats.org/officeDocument/2006/relationships/notesMaster" Target="/ppt/notesMasters/notesMaster1.xml" Id="Rb5063f1d5db349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5fba320854020" /><Relationship Type="http://schemas.openxmlformats.org/officeDocument/2006/relationships/notesMaster" Target="/ppt/notesMasters/notesMaster1.xml" Id="Rc69857af24ef4f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3f08637fdf4957" /><Relationship Type="http://schemas.openxmlformats.org/officeDocument/2006/relationships/notesMaster" Target="/ppt/notesMasters/notesMaster1.xml" Id="R2324622fca3b4c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15 saniye.</a:t>
            </a:r>
          </a:p>
          <a:p xmlns:a="http://schemas.openxmlformats.org/drawingml/2006/main">
            <a:r>
              <a:t>“Birazdan bu sahnenin devamını siz seçeceksiniz. inscribi director, salondaki oyları canlı yapay zekâ videosuna taşıyor.”</a:t>
            </a:r>
          </a:p>
          <a:p xmlns:a="http://schemas.openxmlformats.org/drawingml/2006/main">
            <a:r>
              <a:t>Kaynak: /Users/yakupgunduz/Desktop/inscribi-director/README.md</a:t>
            </a:r>
          </a:p>
          <a:p xmlns:a="http://schemas.openxmlformats.org/drawingml/2006/main">
            <a:r>
              <a:t>Görsel: D19/sahne-simdi-sahnede.png, önceki canlı denemeden kırpılmış kare. Hikâye içeriği değişebilir.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20 saniye.</a:t>
            </a:r>
          </a:p>
          <a:p xmlns:a="http://schemas.openxmlformats.org/drawingml/2006/main">
            <a:r>
              <a:t>“Canlı içerikte izleyicinin kararını videoya taşımak istiyoruz. Telefondan verilen oy zincire yazılıyor. Kazanan seçenek, devam eden AI videosunun bir sonraki sahnesini yönlendiriyor.”</a:t>
            </a:r>
          </a:p>
          <a:p xmlns:a="http://schemas.openxmlformats.org/drawingml/2006/main">
            <a:r>
              <a:t>Kaynak: /Users/yakupgunduz/Desktop/inscribi-director/README.md. Dört seçenek ve tur başına cüzdan başına bir oy mevcut ürün README'sinden. Kişi kimliği doğrulaması iddiası yapılmaz.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QR için 30 saniye ve ardından canlı demo için yaklaşık 60 saniye.</a:t>
            </a:r>
          </a:p>
          <a:p xmlns:a="http://schemas.openxmlformats.org/drawingml/2006/main">
            <a:r>
              <a:t>“Kameranızı açıp QR kodu okutun. Katıl ve demo MON al düğmesine basın. Oylama açıldığında seçiminizi yapın.”</a:t>
            </a:r>
          </a:p>
          <a:p xmlns:a="http://schemas.openxmlformats.org/drawingml/2006/main">
            <a:r>
              <a:t>QR: https://live.inscribi.com</a:t>
            </a:r>
          </a:p>
          <a:p xmlns:a="http://schemas.openxmlformats.org/drawingml/2006/main">
            <a:r>
              <a:t>Sunumdan canlı sahneye geçiş için ayrı sekmede https://live.inscribi.com/stage açılabilir. Operatör girişini sahne öncesinde hazırlayın. Demo bittikten sonra 4. slayta dönün.</a:t>
            </a:r>
          </a:p>
          <a:p xmlns:a="http://schemas.openxmlformats.org/drawingml/2006/main">
            <a:r>
              <a:t>Kaynak: /Users/yakupgunduz/Desktop/inscribi-director/README.md. Demo MON gerçek para değildir. Bu QR ürün katılımıdır, hackathon jüri oylaması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30 saniye.</a:t>
            </a:r>
          </a:p>
          <a:p xmlns:a="http://schemas.openxmlformats.org/drawingml/2006/main">
            <a:r>
              <a:t>“Monad ortak kararın kaydını tutuyor. Oylar, seçenekler ve kazanan sözleşmeden okunabiliyor. Köprü kazanan seçeneği modele iletiyor. Video üretimi zincir dışında gerçekleşiyor.”</a:t>
            </a:r>
          </a:p>
          <a:p xmlns:a="http://schemas.openxmlformats.org/drawingml/2006/main">
            <a:r>
              <a:t>Kaynak: /Users/yakupgunduz/Desktop/inscribi-director/README.md, /Users/yakupgunduz/Desktop/monad-hackathon/docs/BUGUN_URUN_PLANI.md.</a:t>
            </a:r>
          </a:p>
          <a:p xmlns:a="http://schemas.openxmlformats.org/drawingml/2006/main">
            <a:r>
              <a:t>Kontratta seçenek ve prompt hash'i sabitlenir. Oy bedeli 0,001 testnet MON'dur. İptal edilen turun oy bedeli geri alınabilir. Köprü merkezidir, modelin zincir tarafından zorlandığı veya tamamen güven gerektirmeyen bir AI sistemi olduğu iddia edilmez.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25 saniye.</a:t>
            </a:r>
          </a:p>
          <a:p xmlns:a="http://schemas.openxmlformats.org/drawingml/2006/main">
            <a:r>
              <a:t>“Canlı sunucuda, gerçek Director oturumuyla üç tur denedik. Üç mobil tarayıcı bağlamı Monad testnet üzerinde oy verdi. Kazananın modele iletilmesinden ekranda ilk parçasının görünmesine kadar 4,2 ile 8,4 saniye ölçtük.”</a:t>
            </a:r>
          </a:p>
          <a:p xmlns:a="http://schemas.openxmlformats.org/drawingml/2006/main">
            <a:r>
              <a:t>Kaynak: /Users/yakupgunduz/Desktop/monad-hackathon/docs/dogrulama/D19/sonuc.md.</a:t>
            </a:r>
          </a:p>
          <a:p xmlns:a="http://schemas.openxmlformats.org/drawingml/2006/main">
            <a:r>
              <a:t>26 Eylül 2026, tek oturum. Katılımcılar başsız Chrome'da üç mobil tarayıcı bağlamıdır, üç fiziksel telefon değildir. Tur süreleri 5,7 / 8,4 / 4,2 saniye. Yaklaşık 1 saniyelik zincirde sonuçlandırma bu aralığın dışındadır. Üçüncü turun görsel etkisi kayıtta kısmen vardır. Bu ölçüm gelecek oturumlar için garanti değildir. Yeni oylama, kazananın ilk video parçası oynadıktan sonra açıldı.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önerisi: 20 saniye.</a:t>
            </a:r>
          </a:p>
          <a:p xmlns:a="http://schemas.openxmlformats.org/drawingml/2006/main">
            <a:r>
              <a:t>“Bu deneyimi içerik üreticilerinin yayınlarında ve canlı etkinliklerde kullanmayı hedefliyoruz. İzleyiciler aynı hikâyenin kararlarını birlikte verebilir. inscribi director'ı live.inscribi.com adresinde deneyebilirsiniz.”</a:t>
            </a:r>
          </a:p>
          <a:p xmlns:a="http://schemas.openxmlformats.org/drawingml/2006/main">
            <a:r>
              <a:t>Ekip ve roller: /Users/yakupgunduz/Desktop/monad-hackathon/docs/BUGUN_URUN_PLANI.md. Kullanım alanları ürün yönüdür, doğrulanmış müşteri veya ticari gelir iddiası değildir. Organizatörün hackathon oylaması için verdiği yöntemi sözlü olarak ayrıca paylaşın, ürün QR'ı ile karıştırmayın.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412d810c884c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d1b5ce81104de2" /><Relationship Type="http://schemas.openxmlformats.org/officeDocument/2006/relationships/slideLayout" Target="/ppt/slideLayouts/slideLayout1.xml" Id="R2e19ad3224354a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9ad3224354a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3feb65a0744898" /><Relationship Type="http://schemas.openxmlformats.org/officeDocument/2006/relationships/image" Target="/ppt/media/image.png" Id="Rbd531722b89c4f12" /><Relationship Type="http://schemas.openxmlformats.org/officeDocument/2006/relationships/notesSlide" Target="/ppt/notesSlides/notesSlide1.xml" Id="R80d2e830c9a74c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79197c97f944ae" /><Relationship Type="http://schemas.openxmlformats.org/officeDocument/2006/relationships/notesSlide" Target="/ppt/notesSlides/notesSlide2.xml" Id="Rde76b1e5334643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a14b94cd1a4626" /><Relationship Type="http://schemas.openxmlformats.org/officeDocument/2006/relationships/image" Target="/ppt/media/image2.png" Id="Rc9868f13bb3b4ed9" /><Relationship Type="http://schemas.openxmlformats.org/officeDocument/2006/relationships/notesSlide" Target="/ppt/notesSlides/notesSlide3.xml" Id="R23dd941db1d446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de47b3ea9f4580" /><Relationship Type="http://schemas.openxmlformats.org/officeDocument/2006/relationships/notesSlide" Target="/ppt/notesSlides/notesSlide4.xml" Id="R1ab3e3923e634f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6f551ca78c4028" /><Relationship Type="http://schemas.openxmlformats.org/officeDocument/2006/relationships/notesSlide" Target="/ppt/notesSlides/notesSlide5.xml" Id="Rddafa684bc074b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fa2b9925b04cfe" /><Relationship Type="http://schemas.openxmlformats.org/officeDocument/2006/relationships/notesSlide" Target="/ppt/notesSlides/notesSlide6.xml" Id="R93e1f186fb704429" /></Relationships>
</file>

<file path=ppt/slides/slide1.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30A60A-3BB1-46C9-8AA3-534B8893B94A}"/>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MONAD BLITZ İSTANBUL</a:t>
            </a:r>
          </a:p>
        </p:txBody>
      </p:sp>
      <p:sp>
        <p:nvSpPr>
          <p:cNvPr id="2" name="">
            <a:extLst xmlns:a="http://schemas.openxmlformats.org/drawingml/2006/main">
              <a:ext uri="{FF2B5EF4-FFF2-40B4-BE49-F238E27FC236}">
                <a16:creationId xmlns:a16="http://schemas.microsoft.com/office/drawing/2014/main" id="{6F9C509D-7C79-4E6D-9E73-FE32B50D803D}"/>
              </a:ext>
            </a:extLst>
          </p:cNvPr>
          <p:cNvSpPr>
            <a:spLocks xmlns:a="http://schemas.openxmlformats.org/drawingml/2006/main" noGrp="1"/>
          </p:cNvSpPr>
          <p:nvPr/>
        </p:nvSpPr>
        <p:spPr>
          <a:xfrm xmlns:a="http://schemas.openxmlformats.org/drawingml/2006/main">
            <a:off x="609600" y="1390650"/>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750" b="1">
                <a:solidFill>
                  <a:srgbClr val="F3F5FA"/>
                </a:solidFill>
                <a:latin typeface="Helvetica Neue"/>
                <a:ea typeface="Helvetica Neue"/>
                <a:cs typeface="Helvetica Neue"/>
              </a:defRPr>
            </a:pPr>
            <a:r>
              <a:rPr sz="6750" b="1">
                <a:solidFill>
                  <a:srgbClr val="F3F5FA"/>
                </a:solidFill>
                <a:latin typeface="Helvetica Neue"/>
                <a:ea typeface="Helvetica Neue"/>
                <a:cs typeface="Helvetica Neue"/>
              </a:rPr>
              <a:t>inscribi</a:t>
            </a:r>
          </a:p>
        </p:txBody>
      </p:sp>
      <p:sp>
        <p:nvSpPr>
          <p:cNvPr id="3" name="">
            <a:extLst xmlns:a="http://schemas.openxmlformats.org/drawingml/2006/main">
              <a:ext uri="{FF2B5EF4-FFF2-40B4-BE49-F238E27FC236}">
                <a16:creationId xmlns:a16="http://schemas.microsoft.com/office/drawing/2014/main" id="{A11B6D9E-B9F8-4270-86F5-5335FCE95CC9}"/>
              </a:ext>
            </a:extLst>
          </p:cNvPr>
          <p:cNvSpPr>
            <a:spLocks xmlns:a="http://schemas.openxmlformats.org/drawingml/2006/main" noGrp="1"/>
          </p:cNvSpPr>
          <p:nvPr/>
        </p:nvSpPr>
        <p:spPr>
          <a:xfrm xmlns:a="http://schemas.openxmlformats.org/drawingml/2006/main">
            <a:off x="609600" y="227647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750" b="1">
                <a:solidFill>
                  <a:srgbClr val="B69AF7"/>
                </a:solidFill>
                <a:latin typeface="Helvetica Neue"/>
                <a:ea typeface="Helvetica Neue"/>
                <a:cs typeface="Helvetica Neue"/>
              </a:defRPr>
            </a:pPr>
            <a:r>
              <a:rPr sz="6750" b="1">
                <a:solidFill>
                  <a:srgbClr val="B69AF7"/>
                </a:solidFill>
                <a:latin typeface="Helvetica Neue"/>
                <a:ea typeface="Helvetica Neue"/>
                <a:cs typeface="Helvetica Neue"/>
              </a:rPr>
              <a:t>director</a:t>
            </a:r>
          </a:p>
        </p:txBody>
      </p:sp>
      <p:sp>
        <p:nvSpPr>
          <p:cNvPr id="4" name="">
            <a:extLst xmlns:a="http://schemas.openxmlformats.org/drawingml/2006/main">
              <a:ext uri="{FF2B5EF4-FFF2-40B4-BE49-F238E27FC236}">
                <a16:creationId xmlns:a16="http://schemas.microsoft.com/office/drawing/2014/main" id="{85FDE0B4-E8EE-43E3-82E9-80ABA02E75BD}"/>
              </a:ext>
            </a:extLst>
          </p:cNvPr>
          <p:cNvSpPr>
            <a:spLocks xmlns:a="http://schemas.openxmlformats.org/drawingml/2006/main" noGrp="1"/>
          </p:cNvSpPr>
          <p:nvPr/>
        </p:nvSpPr>
        <p:spPr>
          <a:xfrm xmlns:a="http://schemas.openxmlformats.org/drawingml/2006/main">
            <a:off x="647700" y="3905250"/>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3F5FA"/>
                </a:solidFill>
                <a:latin typeface="Helvetica Neue"/>
                <a:ea typeface="Helvetica Neue"/>
                <a:cs typeface="Helvetica Neue"/>
              </a:defRPr>
            </a:pPr>
            <a:r>
              <a:rPr sz="3300" b="1">
                <a:solidFill>
                  <a:srgbClr val="F3F5FA"/>
                </a:solidFill>
                <a:latin typeface="Helvetica Neue"/>
                <a:ea typeface="Helvetica Neue"/>
                <a:cs typeface="Helvetica Neue"/>
              </a:rPr>
              <a:t>Hikâyenin devamını</a:t>
            </a:r>
          </a:p>
          <a:p xmlns:a="http://schemas.openxmlformats.org/drawingml/2006/main">
            <a:pPr>
              <a:defRPr sz="3300" b="1">
                <a:solidFill>
                  <a:srgbClr val="F3F5FA"/>
                </a:solidFill>
                <a:latin typeface="Helvetica Neue"/>
                <a:ea typeface="Helvetica Neue"/>
                <a:cs typeface="Helvetica Neue"/>
              </a:defRPr>
            </a:pPr>
            <a:r>
              <a:rPr sz="3300" b="1">
                <a:solidFill>
                  <a:srgbClr val="F3F5FA"/>
                </a:solidFill>
                <a:latin typeface="Helvetica Neue"/>
                <a:ea typeface="Helvetica Neue"/>
                <a:cs typeface="Helvetica Neue"/>
              </a:rPr>
              <a:t>salon seçiyor</a:t>
            </a:r>
          </a:p>
        </p:txBody>
      </p:sp>
      <p:sp>
        <p:nvSpPr>
          <p:cNvPr id="5" name="">
            <a:extLst xmlns:a="http://schemas.openxmlformats.org/drawingml/2006/main">
              <a:ext uri="{FF2B5EF4-FFF2-40B4-BE49-F238E27FC236}">
                <a16:creationId xmlns:a16="http://schemas.microsoft.com/office/drawing/2014/main" id="{97B8D1E7-F744-4D7D-B31A-F237A3D9A8E8}"/>
              </a:ext>
            </a:extLst>
          </p:cNvPr>
          <p:cNvSpPr>
            <a:spLocks xmlns:a="http://schemas.openxmlformats.org/drawingml/2006/main" noGrp="1"/>
          </p:cNvSpPr>
          <p:nvPr/>
        </p:nvSpPr>
        <p:spPr>
          <a:xfrm xmlns:a="http://schemas.openxmlformats.org/drawingml/2006/main">
            <a:off x="647700" y="54864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B2B8C9"/>
                </a:solidFill>
                <a:latin typeface="Helvetica Neue"/>
                <a:ea typeface="Helvetica Neue"/>
                <a:cs typeface="Helvetica Neue"/>
              </a:defRPr>
            </a:pPr>
            <a:r>
              <a:rPr sz="1875" b="0">
                <a:solidFill>
                  <a:srgbClr val="B2B8C9"/>
                </a:solidFill>
                <a:latin typeface="Helvetica Neue"/>
                <a:ea typeface="Helvetica Neue"/>
                <a:cs typeface="Helvetica Neue"/>
              </a:rPr>
              <a:t>Canlı AI video, zincirde ortak karar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531722b89c4f12"/>
          <a:stretch xmlns:a="http://schemas.openxmlformats.org/drawingml/2006/main"/>
        </p:blipFill>
        <p:spPr>
          <a:xfrm xmlns:a="http://schemas.openxmlformats.org/drawingml/2006/main">
            <a:off x="6286500" y="1668943"/>
            <a:ext cx="5295900" cy="318673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BA47E45-B092-4227-9F50-CD2643B2EE6C}"/>
              </a:ext>
            </a:extLst>
          </p:cNvPr>
          <p:cNvSpPr>
            <a:spLocks xmlns:a="http://schemas.openxmlformats.org/drawingml/2006/main" noGrp="1"/>
          </p:cNvSpPr>
          <p:nvPr/>
        </p:nvSpPr>
        <p:spPr>
          <a:xfrm xmlns:a="http://schemas.openxmlformats.org/drawingml/2006/main">
            <a:off x="6305550" y="50577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B2B8C9"/>
                </a:solidFill>
                <a:latin typeface="Helvetica Neue"/>
                <a:ea typeface="Helvetica Neue"/>
                <a:cs typeface="Helvetica Neue"/>
              </a:defRPr>
            </a:pPr>
            <a:r>
              <a:rPr sz="1500" b="0">
                <a:solidFill>
                  <a:srgbClr val="B2B8C9"/>
                </a:solidFill>
                <a:latin typeface="Helvetica Neue"/>
                <a:ea typeface="Helvetica Neue"/>
                <a:cs typeface="Helvetica Neue"/>
              </a:rPr>
              <a:t>Önceki canlı denemeden</a:t>
            </a:r>
          </a:p>
        </p:txBody>
      </p:sp>
      <p:sp>
        <p:nvSpPr>
          <p:cNvPr id="8" name="">
            <a:extLst xmlns:a="http://schemas.openxmlformats.org/drawingml/2006/main">
              <a:ext uri="{FF2B5EF4-FFF2-40B4-BE49-F238E27FC236}">
                <a16:creationId xmlns:a16="http://schemas.microsoft.com/office/drawing/2014/main" id="{FC89A381-2D3C-47D8-A090-E193B2784E2A}"/>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9" name="">
            <a:extLst xmlns:a="http://schemas.openxmlformats.org/drawingml/2006/main">
              <a:ext uri="{FF2B5EF4-FFF2-40B4-BE49-F238E27FC236}">
                <a16:creationId xmlns:a16="http://schemas.microsoft.com/office/drawing/2014/main" id="{50B2CE66-E768-456B-AD93-76FD45AB6646}"/>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01 / 06</a:t>
            </a:r>
          </a:p>
        </p:txBody>
      </p:sp>
    </p:spTree>
    <p:extLst>
      <p:ext uri="{BB962C8B-B14F-4D97-AF65-F5344CB8AC3E}">
        <p14:creationId xmlns:p14="http://schemas.microsoft.com/office/powerpoint/2010/main" val="969179508"/>
      </p:ext>
    </p:extLst>
  </p:cSld>
</p:sld>
</file>

<file path=ppt/slides/slide2.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C58CE5-1923-4DD1-BC34-01AA69E11E4C}"/>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DENEYİM</a:t>
            </a:r>
          </a:p>
        </p:txBody>
      </p:sp>
      <p:sp>
        <p:nvSpPr>
          <p:cNvPr id="2" name="">
            <a:extLst xmlns:a="http://schemas.openxmlformats.org/drawingml/2006/main">
              <a:ext uri="{FF2B5EF4-FFF2-40B4-BE49-F238E27FC236}">
                <a16:creationId xmlns:a16="http://schemas.microsoft.com/office/drawing/2014/main" id="{2B27D4B6-3C19-40A6-86BC-8567C7048FCA}"/>
              </a:ext>
            </a:extLst>
          </p:cNvPr>
          <p:cNvSpPr>
            <a:spLocks xmlns:a="http://schemas.openxmlformats.org/drawingml/2006/main" noGrp="1"/>
          </p:cNvSpPr>
          <p:nvPr/>
        </p:nvSpPr>
        <p:spPr>
          <a:xfrm xmlns:a="http://schemas.openxmlformats.org/drawingml/2006/main">
            <a:off x="609600" y="1114425"/>
            <a:ext cx="10668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725" b="1">
                <a:solidFill>
                  <a:srgbClr val="F3F5FA"/>
                </a:solidFill>
                <a:latin typeface="Helvetica Neue"/>
                <a:ea typeface="Helvetica Neue"/>
                <a:cs typeface="Helvetica Neue"/>
              </a:defRPr>
            </a:pPr>
            <a:r>
              <a:rPr sz="4725" b="1">
                <a:solidFill>
                  <a:srgbClr val="F3F5FA"/>
                </a:solidFill>
                <a:latin typeface="Helvetica Neue"/>
                <a:ea typeface="Helvetica Neue"/>
                <a:cs typeface="Helvetica Neue"/>
              </a:rPr>
              <a:t>İzleyicinin seçimi</a:t>
            </a:r>
          </a:p>
          <a:p xmlns:a="http://schemas.openxmlformats.org/drawingml/2006/main">
            <a:pPr>
              <a:defRPr sz="4725" b="1">
                <a:solidFill>
                  <a:srgbClr val="F3F5FA"/>
                </a:solidFill>
                <a:latin typeface="Helvetica Neue"/>
                <a:ea typeface="Helvetica Neue"/>
                <a:cs typeface="Helvetica Neue"/>
              </a:defRPr>
            </a:pPr>
            <a:r>
              <a:rPr sz="4725" b="1">
                <a:solidFill>
                  <a:srgbClr val="F3F5FA"/>
                </a:solidFill>
                <a:latin typeface="Helvetica Neue"/>
                <a:ea typeface="Helvetica Neue"/>
                <a:cs typeface="Helvetica Neue"/>
              </a:rPr>
              <a:t>hikâyeyi yönlendiriyor</a:t>
            </a:r>
          </a:p>
        </p:txBody>
      </p:sp>
      <p:sp>
        <p:nvSpPr>
          <p:cNvPr id="3" name="">
            <a:extLst xmlns:a="http://schemas.openxmlformats.org/drawingml/2006/main">
              <a:ext uri="{FF2B5EF4-FFF2-40B4-BE49-F238E27FC236}">
                <a16:creationId xmlns:a16="http://schemas.microsoft.com/office/drawing/2014/main" id="{073D8DBB-B46B-44E4-983A-CDE915BD83C3}"/>
              </a:ext>
            </a:extLst>
          </p:cNvPr>
          <p:cNvSpPr>
            <a:spLocks xmlns:a="http://schemas.openxmlformats.org/drawingml/2006/main" noGrp="1"/>
          </p:cNvSpPr>
          <p:nvPr/>
        </p:nvSpPr>
        <p:spPr>
          <a:xfrm xmlns:a="http://schemas.openxmlformats.org/drawingml/2006/main">
            <a:off x="638175" y="2809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B2B8C9"/>
                </a:solidFill>
                <a:latin typeface="Helvetica Neue"/>
                <a:ea typeface="Helvetica Neue"/>
                <a:cs typeface="Helvetica Neue"/>
              </a:defRPr>
            </a:pPr>
            <a:r>
              <a:rPr sz="2250" b="0">
                <a:solidFill>
                  <a:srgbClr val="B2B8C9"/>
                </a:solidFill>
                <a:latin typeface="Helvetica Neue"/>
                <a:ea typeface="Helvetica Neue"/>
                <a:cs typeface="Helvetica Neue"/>
              </a:rPr>
              <a:t>Telefonundan verdiğin oy, ortak sahnenin devamına dönüşür.</a:t>
            </a:r>
          </a:p>
        </p:txBody>
      </p:sp>
      <p:sp>
        <p:nvSpPr>
          <p:cNvPr id="4" name="">
            <a:extLst xmlns:a="http://schemas.openxmlformats.org/drawingml/2006/main">
              <a:ext uri="{FF2B5EF4-FFF2-40B4-BE49-F238E27FC236}">
                <a16:creationId xmlns:a16="http://schemas.microsoft.com/office/drawing/2014/main" id="{00A7302D-CDB7-4459-BD60-B7EE2FE60EA3}"/>
              </a:ext>
            </a:extLst>
          </p:cNvPr>
          <p:cNvSpPr>
            <a:spLocks xmlns:a="http://schemas.openxmlformats.org/drawingml/2006/main" noGrp="1"/>
          </p:cNvSpPr>
          <p:nvPr/>
        </p:nvSpPr>
        <p:spPr>
          <a:xfrm xmlns:a="http://schemas.openxmlformats.org/drawingml/2006/main">
            <a:off x="609600" y="38766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B69AF7"/>
                </a:solidFill>
                <a:latin typeface="Helvetica Neue"/>
                <a:ea typeface="Helvetica Neue"/>
                <a:cs typeface="Helvetica Neue"/>
              </a:defRPr>
            </a:pPr>
            <a:r>
              <a:rPr sz="3000" b="1">
                <a:solidFill>
                  <a:srgbClr val="B69AF7"/>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2C4437EE-3CB5-4460-84F2-60CE17F9B9A2}"/>
              </a:ext>
            </a:extLst>
          </p:cNvPr>
          <p:cNvSpPr>
            <a:spLocks xmlns:a="http://schemas.openxmlformats.org/drawingml/2006/main" noGrp="1"/>
          </p:cNvSpPr>
          <p:nvPr/>
        </p:nvSpPr>
        <p:spPr>
          <a:xfrm xmlns:a="http://schemas.openxmlformats.org/drawingml/2006/main">
            <a:off x="609600" y="45339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3F5FA"/>
                </a:solidFill>
                <a:latin typeface="Helvetica Neue"/>
                <a:ea typeface="Helvetica Neue"/>
                <a:cs typeface="Helvetica Neue"/>
              </a:defRPr>
            </a:pPr>
            <a:r>
              <a:rPr sz="2850" b="1">
                <a:solidFill>
                  <a:srgbClr val="F3F5FA"/>
                </a:solidFill>
                <a:latin typeface="Helvetica Neue"/>
                <a:ea typeface="Helvetica Neue"/>
                <a:cs typeface="Helvetica Neue"/>
              </a:rPr>
              <a:t>Katıl</a:t>
            </a:r>
          </a:p>
        </p:txBody>
      </p:sp>
      <p:sp>
        <p:nvSpPr>
          <p:cNvPr id="6" name="">
            <a:extLst xmlns:a="http://schemas.openxmlformats.org/drawingml/2006/main">
              <a:ext uri="{FF2B5EF4-FFF2-40B4-BE49-F238E27FC236}">
                <a16:creationId xmlns:a16="http://schemas.microsoft.com/office/drawing/2014/main" id="{CDA01BF0-D256-48DD-A6B6-9022BE7317C1}"/>
              </a:ext>
            </a:extLst>
          </p:cNvPr>
          <p:cNvSpPr>
            <a:spLocks xmlns:a="http://schemas.openxmlformats.org/drawingml/2006/main" noGrp="1"/>
          </p:cNvSpPr>
          <p:nvPr/>
        </p:nvSpPr>
        <p:spPr>
          <a:xfrm xmlns:a="http://schemas.openxmlformats.org/drawingml/2006/main">
            <a:off x="609600" y="52197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B2B8C9"/>
                </a:solidFill>
                <a:latin typeface="Helvetica Neue"/>
                <a:ea typeface="Helvetica Neue"/>
                <a:cs typeface="Helvetica Neue"/>
              </a:defRPr>
            </a:pPr>
            <a:r>
              <a:rPr sz="1950" b="0">
                <a:solidFill>
                  <a:srgbClr val="B2B8C9"/>
                </a:solidFill>
                <a:latin typeface="Helvetica Neue"/>
                <a:ea typeface="Helvetica Neue"/>
                <a:cs typeface="Helvetica Neue"/>
              </a:rPr>
              <a:t>QR ile aynı odaya gir.</a:t>
            </a:r>
          </a:p>
        </p:txBody>
      </p:sp>
      <p:sp>
        <p:nvSpPr>
          <p:cNvPr id="7" name="">
            <a:extLst xmlns:a="http://schemas.openxmlformats.org/drawingml/2006/main">
              <a:ext uri="{FF2B5EF4-FFF2-40B4-BE49-F238E27FC236}">
                <a16:creationId xmlns:a16="http://schemas.microsoft.com/office/drawing/2014/main" id="{A663CE3F-195F-4364-82DB-52EA07CE495D}"/>
              </a:ext>
            </a:extLst>
          </p:cNvPr>
          <p:cNvSpPr>
            <a:spLocks xmlns:a="http://schemas.openxmlformats.org/drawingml/2006/main" noGrp="1"/>
          </p:cNvSpPr>
          <p:nvPr/>
        </p:nvSpPr>
        <p:spPr>
          <a:xfrm xmlns:a="http://schemas.openxmlformats.org/drawingml/2006/main">
            <a:off x="4429125" y="38766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B69AF7"/>
                </a:solidFill>
                <a:latin typeface="Helvetica Neue"/>
                <a:ea typeface="Helvetica Neue"/>
                <a:cs typeface="Helvetica Neue"/>
              </a:defRPr>
            </a:pPr>
            <a:r>
              <a:rPr sz="3000" b="1">
                <a:solidFill>
                  <a:srgbClr val="B69AF7"/>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074280D9-6933-4924-A35D-2AF141E3ADEA}"/>
              </a:ext>
            </a:extLst>
          </p:cNvPr>
          <p:cNvSpPr>
            <a:spLocks xmlns:a="http://schemas.openxmlformats.org/drawingml/2006/main" noGrp="1"/>
          </p:cNvSpPr>
          <p:nvPr/>
        </p:nvSpPr>
        <p:spPr>
          <a:xfrm xmlns:a="http://schemas.openxmlformats.org/drawingml/2006/main">
            <a:off x="4429125" y="45339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3F5FA"/>
                </a:solidFill>
                <a:latin typeface="Helvetica Neue"/>
                <a:ea typeface="Helvetica Neue"/>
                <a:cs typeface="Helvetica Neue"/>
              </a:defRPr>
            </a:pPr>
            <a:r>
              <a:rPr sz="2850" b="1">
                <a:solidFill>
                  <a:srgbClr val="F3F5FA"/>
                </a:solidFill>
                <a:latin typeface="Helvetica Neue"/>
                <a:ea typeface="Helvetica Neue"/>
                <a:cs typeface="Helvetica Neue"/>
              </a:rPr>
              <a:t>Seç</a:t>
            </a:r>
          </a:p>
        </p:txBody>
      </p:sp>
      <p:sp>
        <p:nvSpPr>
          <p:cNvPr id="9" name="">
            <a:extLst xmlns:a="http://schemas.openxmlformats.org/drawingml/2006/main">
              <a:ext uri="{FF2B5EF4-FFF2-40B4-BE49-F238E27FC236}">
                <a16:creationId xmlns:a16="http://schemas.microsoft.com/office/drawing/2014/main" id="{F3E29E44-8C49-4D0A-983B-47407E0D075C}"/>
              </a:ext>
            </a:extLst>
          </p:cNvPr>
          <p:cNvSpPr>
            <a:spLocks xmlns:a="http://schemas.openxmlformats.org/drawingml/2006/main" noGrp="1"/>
          </p:cNvSpPr>
          <p:nvPr/>
        </p:nvSpPr>
        <p:spPr>
          <a:xfrm xmlns:a="http://schemas.openxmlformats.org/drawingml/2006/main">
            <a:off x="4429125" y="52197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B2B8C9"/>
                </a:solidFill>
                <a:latin typeface="Helvetica Neue"/>
                <a:ea typeface="Helvetica Neue"/>
                <a:cs typeface="Helvetica Neue"/>
              </a:defRPr>
            </a:pPr>
            <a:r>
              <a:rPr sz="1950" b="0">
                <a:solidFill>
                  <a:srgbClr val="B2B8C9"/>
                </a:solidFill>
                <a:latin typeface="Helvetica Neue"/>
                <a:ea typeface="Helvetica Neue"/>
                <a:cs typeface="Helvetica Neue"/>
              </a:rPr>
              <a:t>Dört seçenekten birine oy ver.</a:t>
            </a:r>
          </a:p>
        </p:txBody>
      </p:sp>
      <p:sp>
        <p:nvSpPr>
          <p:cNvPr id="10" name="">
            <a:extLst xmlns:a="http://schemas.openxmlformats.org/drawingml/2006/main">
              <a:ext uri="{FF2B5EF4-FFF2-40B4-BE49-F238E27FC236}">
                <a16:creationId xmlns:a16="http://schemas.microsoft.com/office/drawing/2014/main" id="{A4DCBC52-ECA6-4719-8082-41F604CC0C52}"/>
              </a:ext>
            </a:extLst>
          </p:cNvPr>
          <p:cNvSpPr>
            <a:spLocks xmlns:a="http://schemas.openxmlformats.org/drawingml/2006/main" noGrp="1"/>
          </p:cNvSpPr>
          <p:nvPr/>
        </p:nvSpPr>
        <p:spPr>
          <a:xfrm xmlns:a="http://schemas.openxmlformats.org/drawingml/2006/main">
            <a:off x="8248650" y="38766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B69AF7"/>
                </a:solidFill>
                <a:latin typeface="Helvetica Neue"/>
                <a:ea typeface="Helvetica Neue"/>
                <a:cs typeface="Helvetica Neue"/>
              </a:defRPr>
            </a:pPr>
            <a:r>
              <a:rPr sz="3000" b="1">
                <a:solidFill>
                  <a:srgbClr val="B69AF7"/>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2284787C-37AE-4307-AA33-E6546D49A364}"/>
              </a:ext>
            </a:extLst>
          </p:cNvPr>
          <p:cNvSpPr>
            <a:spLocks xmlns:a="http://schemas.openxmlformats.org/drawingml/2006/main" noGrp="1"/>
          </p:cNvSpPr>
          <p:nvPr/>
        </p:nvSpPr>
        <p:spPr>
          <a:xfrm xmlns:a="http://schemas.openxmlformats.org/drawingml/2006/main">
            <a:off x="8248650" y="453390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3F5FA"/>
                </a:solidFill>
                <a:latin typeface="Helvetica Neue"/>
                <a:ea typeface="Helvetica Neue"/>
                <a:cs typeface="Helvetica Neue"/>
              </a:defRPr>
            </a:pPr>
            <a:r>
              <a:rPr sz="2850" b="1">
                <a:solidFill>
                  <a:srgbClr val="F3F5FA"/>
                </a:solidFill>
                <a:latin typeface="Helvetica Neue"/>
                <a:ea typeface="Helvetica Neue"/>
                <a:cs typeface="Helvetica Neue"/>
              </a:rPr>
              <a:t>İzle</a:t>
            </a:r>
          </a:p>
        </p:txBody>
      </p:sp>
      <p:sp>
        <p:nvSpPr>
          <p:cNvPr id="12" name="">
            <a:extLst xmlns:a="http://schemas.openxmlformats.org/drawingml/2006/main">
              <a:ext uri="{FF2B5EF4-FFF2-40B4-BE49-F238E27FC236}">
                <a16:creationId xmlns:a16="http://schemas.microsoft.com/office/drawing/2014/main" id="{ED267478-3434-4BD1-9657-1B0738FE2CDB}"/>
              </a:ext>
            </a:extLst>
          </p:cNvPr>
          <p:cNvSpPr>
            <a:spLocks xmlns:a="http://schemas.openxmlformats.org/drawingml/2006/main" noGrp="1"/>
          </p:cNvSpPr>
          <p:nvPr/>
        </p:nvSpPr>
        <p:spPr>
          <a:xfrm xmlns:a="http://schemas.openxmlformats.org/drawingml/2006/main">
            <a:off x="8248650" y="52197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B2B8C9"/>
                </a:solidFill>
                <a:latin typeface="Helvetica Neue"/>
                <a:ea typeface="Helvetica Neue"/>
                <a:cs typeface="Helvetica Neue"/>
              </a:defRPr>
            </a:pPr>
            <a:r>
              <a:rPr sz="1950" b="0">
                <a:solidFill>
                  <a:srgbClr val="B2B8C9"/>
                </a:solidFill>
                <a:latin typeface="Helvetica Neue"/>
                <a:ea typeface="Helvetica Neue"/>
                <a:cs typeface="Helvetica Neue"/>
              </a:rPr>
              <a:t>Kazananı canlı sahnede gör.</a:t>
            </a:r>
          </a:p>
        </p:txBody>
      </p:sp>
      <p:sp>
        <p:nvSpPr>
          <p:cNvPr id="13" name="">
            <a:extLst xmlns:a="http://schemas.openxmlformats.org/drawingml/2006/main">
              <a:ext uri="{FF2B5EF4-FFF2-40B4-BE49-F238E27FC236}">
                <a16:creationId xmlns:a16="http://schemas.microsoft.com/office/drawing/2014/main" id="{C8B60394-2BA8-43B2-B236-8154BA5E1A79}"/>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14" name="">
            <a:extLst xmlns:a="http://schemas.openxmlformats.org/drawingml/2006/main">
              <a:ext uri="{FF2B5EF4-FFF2-40B4-BE49-F238E27FC236}">
                <a16:creationId xmlns:a16="http://schemas.microsoft.com/office/drawing/2014/main" id="{43369E69-1AD8-46DE-B6A3-BD1BB78F6078}"/>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02 / 06</a:t>
            </a:r>
          </a:p>
        </p:txBody>
      </p:sp>
    </p:spTree>
    <p:extLst>
      <p:ext uri="{BB962C8B-B14F-4D97-AF65-F5344CB8AC3E}">
        <p14:creationId xmlns:p14="http://schemas.microsoft.com/office/powerpoint/2010/main" val="289740422"/>
      </p:ext>
    </p:extLst>
  </p:cSld>
</p:sld>
</file>

<file path=ppt/slides/slide3.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ABCA99-E9F5-4292-82DA-E704E41E05EA}"/>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CANLI DEMO</a:t>
            </a:r>
          </a:p>
        </p:txBody>
      </p:sp>
      <p:sp>
        <p:nvSpPr>
          <p:cNvPr id="2" name="">
            <a:extLst xmlns:a="http://schemas.openxmlformats.org/drawingml/2006/main">
              <a:ext uri="{FF2B5EF4-FFF2-40B4-BE49-F238E27FC236}">
                <a16:creationId xmlns:a16="http://schemas.microsoft.com/office/drawing/2014/main" id="{94AA3CE0-A3ED-43C5-8829-7AB24BBFD008}"/>
              </a:ext>
            </a:extLst>
          </p:cNvPr>
          <p:cNvSpPr>
            <a:spLocks xmlns:a="http://schemas.openxmlformats.org/drawingml/2006/main" noGrp="1"/>
          </p:cNvSpPr>
          <p:nvPr/>
        </p:nvSpPr>
        <p:spPr>
          <a:xfrm xmlns:a="http://schemas.openxmlformats.org/drawingml/2006/main">
            <a:off x="609600" y="1133475"/>
            <a:ext cx="601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F3F5FA"/>
                </a:solidFill>
                <a:latin typeface="Helvetica Neue"/>
                <a:ea typeface="Helvetica Neue"/>
                <a:cs typeface="Helvetica Neue"/>
              </a:defRPr>
            </a:pPr>
            <a:r>
              <a:rPr sz="4650" b="1">
                <a:solidFill>
                  <a:srgbClr val="F3F5FA"/>
                </a:solidFill>
                <a:latin typeface="Helvetica Neue"/>
                <a:ea typeface="Helvetica Neue"/>
                <a:cs typeface="Helvetica Neue"/>
              </a:rPr>
              <a:t>Sıradaki sahne</a:t>
            </a:r>
          </a:p>
          <a:p xmlns:a="http://schemas.openxmlformats.org/drawingml/2006/main">
            <a:pPr>
              <a:defRPr sz="4650" b="1">
                <a:solidFill>
                  <a:srgbClr val="F3F5FA"/>
                </a:solidFill>
                <a:latin typeface="Helvetica Neue"/>
                <a:ea typeface="Helvetica Neue"/>
                <a:cs typeface="Helvetica Neue"/>
              </a:defRPr>
            </a:pPr>
            <a:r>
              <a:rPr sz="4650" b="1">
                <a:solidFill>
                  <a:srgbClr val="F3F5FA"/>
                </a:solidFill>
                <a:latin typeface="Helvetica Neue"/>
                <a:ea typeface="Helvetica Neue"/>
                <a:cs typeface="Helvetica Neue"/>
              </a:rPr>
              <a:t>senin seçimin</a:t>
            </a:r>
          </a:p>
        </p:txBody>
      </p:sp>
      <p:sp>
        <p:nvSpPr>
          <p:cNvPr id="3" name="">
            <a:extLst xmlns:a="http://schemas.openxmlformats.org/drawingml/2006/main">
              <a:ext uri="{FF2B5EF4-FFF2-40B4-BE49-F238E27FC236}">
                <a16:creationId xmlns:a16="http://schemas.microsoft.com/office/drawing/2014/main" id="{AB2706CE-E0B8-4809-BD25-4311DE8A15F1}"/>
              </a:ext>
            </a:extLst>
          </p:cNvPr>
          <p:cNvSpPr>
            <a:spLocks xmlns:a="http://schemas.openxmlformats.org/drawingml/2006/main" noGrp="1"/>
          </p:cNvSpPr>
          <p:nvPr/>
        </p:nvSpPr>
        <p:spPr>
          <a:xfrm xmlns:a="http://schemas.openxmlformats.org/drawingml/2006/main">
            <a:off x="647700" y="3076575"/>
            <a:ext cx="566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3F5FA"/>
                </a:solidFill>
                <a:latin typeface="Helvetica Neue"/>
                <a:ea typeface="Helvetica Neue"/>
                <a:cs typeface="Helvetica Neue"/>
              </a:defRPr>
            </a:pPr>
            <a:r>
              <a:rPr sz="2175" b="0">
                <a:solidFill>
                  <a:srgbClr val="F3F5FA"/>
                </a:solidFill>
                <a:latin typeface="Helvetica Neue"/>
                <a:ea typeface="Helvetica Neue"/>
                <a:cs typeface="Helvetica Neue"/>
              </a:rPr>
              <a:t>1   Kameranla QR kodu okut</a:t>
            </a:r>
          </a:p>
        </p:txBody>
      </p:sp>
      <p:sp>
        <p:nvSpPr>
          <p:cNvPr id="4" name="">
            <a:extLst xmlns:a="http://schemas.openxmlformats.org/drawingml/2006/main">
              <a:ext uri="{FF2B5EF4-FFF2-40B4-BE49-F238E27FC236}">
                <a16:creationId xmlns:a16="http://schemas.microsoft.com/office/drawing/2014/main" id="{85D62CCA-4EA2-4C7A-96C9-FA9E4F25B7A3}"/>
              </a:ext>
            </a:extLst>
          </p:cNvPr>
          <p:cNvSpPr>
            <a:spLocks xmlns:a="http://schemas.openxmlformats.org/drawingml/2006/main" noGrp="1"/>
          </p:cNvSpPr>
          <p:nvPr/>
        </p:nvSpPr>
        <p:spPr>
          <a:xfrm xmlns:a="http://schemas.openxmlformats.org/drawingml/2006/main">
            <a:off x="647700" y="3714750"/>
            <a:ext cx="566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3F5FA"/>
                </a:solidFill>
                <a:latin typeface="Helvetica Neue"/>
                <a:ea typeface="Helvetica Neue"/>
                <a:cs typeface="Helvetica Neue"/>
              </a:defRPr>
            </a:pPr>
            <a:r>
              <a:rPr sz="2175" b="0">
                <a:solidFill>
                  <a:srgbClr val="F3F5FA"/>
                </a:solidFill>
                <a:latin typeface="Helvetica Neue"/>
                <a:ea typeface="Helvetica Neue"/>
                <a:cs typeface="Helvetica Neue"/>
              </a:rPr>
              <a:t>2   Katıl ve demo MON al</a:t>
            </a:r>
          </a:p>
        </p:txBody>
      </p:sp>
      <p:sp>
        <p:nvSpPr>
          <p:cNvPr id="5" name="">
            <a:extLst xmlns:a="http://schemas.openxmlformats.org/drawingml/2006/main">
              <a:ext uri="{FF2B5EF4-FFF2-40B4-BE49-F238E27FC236}">
                <a16:creationId xmlns:a16="http://schemas.microsoft.com/office/drawing/2014/main" id="{569C3297-B8BD-4391-9F91-14EFAC8D5877}"/>
              </a:ext>
            </a:extLst>
          </p:cNvPr>
          <p:cNvSpPr>
            <a:spLocks xmlns:a="http://schemas.openxmlformats.org/drawingml/2006/main" noGrp="1"/>
          </p:cNvSpPr>
          <p:nvPr/>
        </p:nvSpPr>
        <p:spPr>
          <a:xfrm xmlns:a="http://schemas.openxmlformats.org/drawingml/2006/main">
            <a:off x="647700" y="4352925"/>
            <a:ext cx="566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3F5FA"/>
                </a:solidFill>
                <a:latin typeface="Helvetica Neue"/>
                <a:ea typeface="Helvetica Neue"/>
                <a:cs typeface="Helvetica Neue"/>
              </a:defRPr>
            </a:pPr>
            <a:r>
              <a:rPr sz="2175" b="0">
                <a:solidFill>
                  <a:srgbClr val="F3F5FA"/>
                </a:solidFill>
                <a:latin typeface="Helvetica Neue"/>
                <a:ea typeface="Helvetica Neue"/>
                <a:cs typeface="Helvetica Neue"/>
              </a:rPr>
              <a:t>3   Oylama açılınca seçimini yap</a:t>
            </a:r>
          </a:p>
        </p:txBody>
      </p:sp>
      <p:sp>
        <p:nvSpPr>
          <p:cNvPr id="6" name="">
            <a:extLst xmlns:a="http://schemas.openxmlformats.org/drawingml/2006/main">
              <a:ext uri="{FF2B5EF4-FFF2-40B4-BE49-F238E27FC236}">
                <a16:creationId xmlns:a16="http://schemas.microsoft.com/office/drawing/2014/main" id="{67B8730A-D28A-4719-B984-AFB5A3590EB1}"/>
              </a:ext>
            </a:extLst>
          </p:cNvPr>
          <p:cNvSpPr>
            <a:spLocks xmlns:a="http://schemas.openxmlformats.org/drawingml/2006/main" noGrp="1"/>
          </p:cNvSpPr>
          <p:nvPr/>
        </p:nvSpPr>
        <p:spPr>
          <a:xfrm xmlns:a="http://schemas.openxmlformats.org/drawingml/2006/main">
            <a:off x="647700" y="52863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B2B8C9"/>
                </a:solidFill>
                <a:latin typeface="Helvetica Neue"/>
                <a:ea typeface="Helvetica Neue"/>
                <a:cs typeface="Helvetica Neue"/>
              </a:defRPr>
            </a:pPr>
            <a:r>
              <a:rPr sz="1725" b="0">
                <a:solidFill>
                  <a:srgbClr val="B2B8C9"/>
                </a:solidFill>
                <a:latin typeface="Helvetica Neue"/>
                <a:ea typeface="Helvetica Neue"/>
                <a:cs typeface="Helvetica Neue"/>
              </a:rPr>
              <a:t>Monad testnet</a:t>
            </a:r>
          </a:p>
          <a:p xmlns:a="http://schemas.openxmlformats.org/drawingml/2006/main">
            <a:pPr>
              <a:defRPr sz="1725" b="0">
                <a:solidFill>
                  <a:srgbClr val="B2B8C9"/>
                </a:solidFill>
                <a:latin typeface="Helvetica Neue"/>
                <a:ea typeface="Helvetica Neue"/>
                <a:cs typeface="Helvetica Neue"/>
              </a:defRPr>
            </a:pPr>
            <a:r>
              <a:rPr sz="1725" b="0">
                <a:solidFill>
                  <a:srgbClr val="B2B8C9"/>
                </a:solidFill>
                <a:latin typeface="Helvetica Neue"/>
                <a:ea typeface="Helvetica Neue"/>
                <a:cs typeface="Helvetica Neue"/>
              </a:rPr>
              <a:t>Demo MON gerçek para değildir.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9868f13bb3b4ed9"/>
          <a:stretch xmlns:a="http://schemas.openxmlformats.org/drawingml/2006/main"/>
        </p:blipFill>
        <p:spPr>
          <a:xfrm xmlns:a="http://schemas.openxmlformats.org/drawingml/2006/main">
            <a:off x="6991350" y="1304925"/>
            <a:ext cx="4438650" cy="4438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BC7A923-C8AE-4C05-BF1C-58FADE097630}"/>
              </a:ext>
            </a:extLst>
          </p:cNvPr>
          <p:cNvSpPr>
            <a:spLocks xmlns:a="http://schemas.openxmlformats.org/drawingml/2006/main" noGrp="1"/>
          </p:cNvSpPr>
          <p:nvPr/>
        </p:nvSpPr>
        <p:spPr>
          <a:xfrm xmlns:a="http://schemas.openxmlformats.org/drawingml/2006/main">
            <a:off x="7038975" y="5781675"/>
            <a:ext cx="453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B69AF7"/>
                </a:solidFill>
                <a:latin typeface="Helvetica Neue"/>
                <a:ea typeface="Helvetica Neue"/>
                <a:cs typeface="Helvetica Neue"/>
              </a:defRPr>
            </a:pPr>
            <a:r>
              <a:rPr sz="2550" b="1">
                <a:solidFill>
                  <a:srgbClr val="B69AF7"/>
                </a:solidFill>
                <a:latin typeface="Helvetica Neue"/>
                <a:ea typeface="Helvetica Neue"/>
                <a:cs typeface="Helvetica Neue"/>
              </a:rPr>
              <a:t>live.inscribi.com</a:t>
            </a:r>
          </a:p>
        </p:txBody>
      </p:sp>
      <p:sp>
        <p:nvSpPr>
          <p:cNvPr id="9" name="">
            <a:extLst xmlns:a="http://schemas.openxmlformats.org/drawingml/2006/main">
              <a:ext uri="{FF2B5EF4-FFF2-40B4-BE49-F238E27FC236}">
                <a16:creationId xmlns:a16="http://schemas.microsoft.com/office/drawing/2014/main" id="{E206B399-610B-48DE-8B43-7971E4A5DC09}"/>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10" name="">
            <a:extLst xmlns:a="http://schemas.openxmlformats.org/drawingml/2006/main">
              <a:ext uri="{FF2B5EF4-FFF2-40B4-BE49-F238E27FC236}">
                <a16:creationId xmlns:a16="http://schemas.microsoft.com/office/drawing/2014/main" id="{6CA85233-18BF-4EEC-8F64-212D0F2D357F}"/>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03 / 06</a:t>
            </a:r>
          </a:p>
        </p:txBody>
      </p:sp>
    </p:spTree>
    <p:extLst>
      <p:ext uri="{BB962C8B-B14F-4D97-AF65-F5344CB8AC3E}">
        <p14:creationId xmlns:p14="http://schemas.microsoft.com/office/powerpoint/2010/main" val="765747721"/>
      </p:ext>
    </p:extLst>
  </p:cSld>
</p:sld>
</file>

<file path=ppt/slides/slide4.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2B1F137-44A1-49E1-80C4-684D5BA45435}"/>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NEDEN MONAD</a:t>
            </a:r>
          </a:p>
        </p:txBody>
      </p:sp>
      <p:sp>
        <p:nvSpPr>
          <p:cNvPr id="2" name="">
            <a:extLst xmlns:a="http://schemas.openxmlformats.org/drawingml/2006/main">
              <a:ext uri="{FF2B5EF4-FFF2-40B4-BE49-F238E27FC236}">
                <a16:creationId xmlns:a16="http://schemas.microsoft.com/office/drawing/2014/main" id="{1256000E-B2F1-41CE-8016-5DAC6EF07249}"/>
              </a:ext>
            </a:extLst>
          </p:cNvPr>
          <p:cNvSpPr>
            <a:spLocks xmlns:a="http://schemas.openxmlformats.org/drawingml/2006/main" noGrp="1"/>
          </p:cNvSpPr>
          <p:nvPr/>
        </p:nvSpPr>
        <p:spPr>
          <a:xfrm xmlns:a="http://schemas.openxmlformats.org/drawingml/2006/main">
            <a:off x="609600" y="115252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F3F5FA"/>
                </a:solidFill>
                <a:latin typeface="Helvetica Neue"/>
                <a:ea typeface="Helvetica Neue"/>
                <a:cs typeface="Helvetica Neue"/>
              </a:defRPr>
            </a:pPr>
            <a:r>
              <a:rPr sz="4500" b="1">
                <a:solidFill>
                  <a:srgbClr val="F3F5FA"/>
                </a:solidFill>
                <a:latin typeface="Helvetica Neue"/>
                <a:ea typeface="Helvetica Neue"/>
                <a:cs typeface="Helvetica Neue"/>
              </a:rPr>
              <a:t>Ortak kararın kaydı zincirde</a:t>
            </a:r>
          </a:p>
        </p:txBody>
      </p:sp>
      <p:sp>
        <p:nvSpPr>
          <p:cNvPr id="3" name="">
            <a:extLst xmlns:a="http://schemas.openxmlformats.org/drawingml/2006/main">
              <a:ext uri="{FF2B5EF4-FFF2-40B4-BE49-F238E27FC236}">
                <a16:creationId xmlns:a16="http://schemas.microsoft.com/office/drawing/2014/main" id="{E9DD4779-F911-4CAB-A0CB-5088AB629530}"/>
              </a:ext>
            </a:extLst>
          </p:cNvPr>
          <p:cNvSpPr>
            <a:spLocks xmlns:a="http://schemas.openxmlformats.org/drawingml/2006/main" noGrp="1"/>
          </p:cNvSpPr>
          <p:nvPr/>
        </p:nvSpPr>
        <p:spPr>
          <a:xfrm xmlns:a="http://schemas.openxmlformats.org/drawingml/2006/main">
            <a:off x="609600" y="2628900"/>
            <a:ext cx="2428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B69AF7"/>
                </a:solidFill>
                <a:latin typeface="Helvetica Neue"/>
                <a:ea typeface="Helvetica Neue"/>
                <a:cs typeface="Helvetica Neue"/>
              </a:defRPr>
            </a:pPr>
            <a:r>
              <a:rPr sz="3600" b="1">
                <a:solidFill>
                  <a:srgbClr val="B69AF7"/>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F51675B8-E804-4C94-97DB-C6F7F570E3D5}"/>
              </a:ext>
            </a:extLst>
          </p:cNvPr>
          <p:cNvSpPr>
            <a:spLocks xmlns:a="http://schemas.openxmlformats.org/drawingml/2006/main" noGrp="1"/>
          </p:cNvSpPr>
          <p:nvPr/>
        </p:nvSpPr>
        <p:spPr>
          <a:xfrm xmlns:a="http://schemas.openxmlformats.org/drawingml/2006/main">
            <a:off x="609600" y="34290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3F5FA"/>
                </a:solidFill>
                <a:latin typeface="Helvetica Neue"/>
                <a:ea typeface="Helvetica Neue"/>
                <a:cs typeface="Helvetica Neue"/>
              </a:defRPr>
            </a:pPr>
            <a:r>
              <a:rPr sz="2550" b="1">
                <a:solidFill>
                  <a:srgbClr val="F3F5FA"/>
                </a:solidFill>
                <a:latin typeface="Helvetica Neue"/>
                <a:ea typeface="Helvetica Neue"/>
                <a:cs typeface="Helvetica Neue"/>
              </a:rPr>
              <a:t>Telefon</a:t>
            </a:r>
          </a:p>
        </p:txBody>
      </p:sp>
      <p:sp>
        <p:nvSpPr>
          <p:cNvPr id="5" name="">
            <a:extLst xmlns:a="http://schemas.openxmlformats.org/drawingml/2006/main">
              <a:ext uri="{FF2B5EF4-FFF2-40B4-BE49-F238E27FC236}">
                <a16:creationId xmlns:a16="http://schemas.microsoft.com/office/drawing/2014/main" id="{6BA5B5DB-AB5B-4D37-AB80-FE0D4471924D}"/>
              </a:ext>
            </a:extLst>
          </p:cNvPr>
          <p:cNvSpPr>
            <a:spLocks xmlns:a="http://schemas.openxmlformats.org/drawingml/2006/main" noGrp="1"/>
          </p:cNvSpPr>
          <p:nvPr/>
        </p:nvSpPr>
        <p:spPr>
          <a:xfrm xmlns:a="http://schemas.openxmlformats.org/drawingml/2006/main">
            <a:off x="609600" y="4048125"/>
            <a:ext cx="2543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B2B8C9"/>
                </a:solidFill>
                <a:latin typeface="Helvetica Neue"/>
                <a:ea typeface="Helvetica Neue"/>
                <a:cs typeface="Helvetica Neue"/>
              </a:defRPr>
            </a:pPr>
            <a:r>
              <a:rPr sz="1875" b="0">
                <a:solidFill>
                  <a:srgbClr val="B2B8C9"/>
                </a:solidFill>
                <a:latin typeface="Helvetica Neue"/>
                <a:ea typeface="Helvetica Neue"/>
                <a:cs typeface="Helvetica Neue"/>
              </a:rPr>
              <a:t>İmzalı oy işlemi</a:t>
            </a:r>
          </a:p>
        </p:txBody>
      </p:sp>
      <p:sp>
        <p:nvSpPr>
          <p:cNvPr id="6" name="">
            <a:extLst xmlns:a="http://schemas.openxmlformats.org/drawingml/2006/main">
              <a:ext uri="{FF2B5EF4-FFF2-40B4-BE49-F238E27FC236}">
                <a16:creationId xmlns:a16="http://schemas.microsoft.com/office/drawing/2014/main" id="{C03E9485-A30D-43E3-85B2-0029AD4F5504}"/>
              </a:ext>
            </a:extLst>
          </p:cNvPr>
          <p:cNvSpPr>
            <a:spLocks xmlns:a="http://schemas.openxmlformats.org/drawingml/2006/main" noGrp="1"/>
          </p:cNvSpPr>
          <p:nvPr/>
        </p:nvSpPr>
        <p:spPr>
          <a:xfrm xmlns:a="http://schemas.openxmlformats.org/drawingml/2006/main">
            <a:off x="3476625" y="2628900"/>
            <a:ext cx="2428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B69AF7"/>
                </a:solidFill>
                <a:latin typeface="Helvetica Neue"/>
                <a:ea typeface="Helvetica Neue"/>
                <a:cs typeface="Helvetica Neue"/>
              </a:defRPr>
            </a:pPr>
            <a:r>
              <a:rPr sz="3600" b="1">
                <a:solidFill>
                  <a:srgbClr val="B69AF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E10FF543-4271-4A5F-BA66-36E432295859}"/>
              </a:ext>
            </a:extLst>
          </p:cNvPr>
          <p:cNvSpPr>
            <a:spLocks xmlns:a="http://schemas.openxmlformats.org/drawingml/2006/main" noGrp="1"/>
          </p:cNvSpPr>
          <p:nvPr/>
        </p:nvSpPr>
        <p:spPr>
          <a:xfrm xmlns:a="http://schemas.openxmlformats.org/drawingml/2006/main">
            <a:off x="3476625" y="34290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3F5FA"/>
                </a:solidFill>
                <a:latin typeface="Helvetica Neue"/>
                <a:ea typeface="Helvetica Neue"/>
                <a:cs typeface="Helvetica Neue"/>
              </a:defRPr>
            </a:pPr>
            <a:r>
              <a:rPr sz="2550" b="1">
                <a:solidFill>
                  <a:srgbClr val="F3F5FA"/>
                </a:solidFill>
                <a:latin typeface="Helvetica Neue"/>
                <a:ea typeface="Helvetica Neue"/>
                <a:cs typeface="Helvetica Neue"/>
              </a:rPr>
              <a:t>StoryVote</a:t>
            </a:r>
          </a:p>
        </p:txBody>
      </p:sp>
      <p:sp>
        <p:nvSpPr>
          <p:cNvPr id="8" name="">
            <a:extLst xmlns:a="http://schemas.openxmlformats.org/drawingml/2006/main">
              <a:ext uri="{FF2B5EF4-FFF2-40B4-BE49-F238E27FC236}">
                <a16:creationId xmlns:a16="http://schemas.microsoft.com/office/drawing/2014/main" id="{67D982D8-884A-4A8D-B0D6-E84D6A3FE573}"/>
              </a:ext>
            </a:extLst>
          </p:cNvPr>
          <p:cNvSpPr>
            <a:spLocks xmlns:a="http://schemas.openxmlformats.org/drawingml/2006/main" noGrp="1"/>
          </p:cNvSpPr>
          <p:nvPr/>
        </p:nvSpPr>
        <p:spPr>
          <a:xfrm xmlns:a="http://schemas.openxmlformats.org/drawingml/2006/main">
            <a:off x="3476625" y="4048125"/>
            <a:ext cx="2543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B2B8C9"/>
                </a:solidFill>
                <a:latin typeface="Helvetica Neue"/>
                <a:ea typeface="Helvetica Neue"/>
                <a:cs typeface="Helvetica Neue"/>
              </a:defRPr>
            </a:pPr>
            <a:r>
              <a:rPr sz="1875" b="0">
                <a:solidFill>
                  <a:srgbClr val="B2B8C9"/>
                </a:solidFill>
                <a:latin typeface="Helvetica Neue"/>
                <a:ea typeface="Helvetica Neue"/>
                <a:cs typeface="Helvetica Neue"/>
              </a:rPr>
              <a:t>Oylar ve kazanan</a:t>
            </a:r>
          </a:p>
        </p:txBody>
      </p:sp>
      <p:sp>
        <p:nvSpPr>
          <p:cNvPr id="9" name="">
            <a:extLst xmlns:a="http://schemas.openxmlformats.org/drawingml/2006/main">
              <a:ext uri="{FF2B5EF4-FFF2-40B4-BE49-F238E27FC236}">
                <a16:creationId xmlns:a16="http://schemas.microsoft.com/office/drawing/2014/main" id="{AEB41236-50BA-4501-9AC5-CF916A5576D5}"/>
              </a:ext>
            </a:extLst>
          </p:cNvPr>
          <p:cNvSpPr>
            <a:spLocks xmlns:a="http://schemas.openxmlformats.org/drawingml/2006/main" noGrp="1"/>
          </p:cNvSpPr>
          <p:nvPr/>
        </p:nvSpPr>
        <p:spPr>
          <a:xfrm xmlns:a="http://schemas.openxmlformats.org/drawingml/2006/main">
            <a:off x="6343650" y="2628900"/>
            <a:ext cx="2428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B69AF7"/>
                </a:solidFill>
                <a:latin typeface="Helvetica Neue"/>
                <a:ea typeface="Helvetica Neue"/>
                <a:cs typeface="Helvetica Neue"/>
              </a:defRPr>
            </a:pPr>
            <a:r>
              <a:rPr sz="3600" b="1">
                <a:solidFill>
                  <a:srgbClr val="B69AF7"/>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349B30B6-A19B-4C16-964F-E0B3E4C77333}"/>
              </a:ext>
            </a:extLst>
          </p:cNvPr>
          <p:cNvSpPr>
            <a:spLocks xmlns:a="http://schemas.openxmlformats.org/drawingml/2006/main" noGrp="1"/>
          </p:cNvSpPr>
          <p:nvPr/>
        </p:nvSpPr>
        <p:spPr>
          <a:xfrm xmlns:a="http://schemas.openxmlformats.org/drawingml/2006/main">
            <a:off x="6343650" y="34290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3F5FA"/>
                </a:solidFill>
                <a:latin typeface="Helvetica Neue"/>
                <a:ea typeface="Helvetica Neue"/>
                <a:cs typeface="Helvetica Neue"/>
              </a:defRPr>
            </a:pPr>
            <a:r>
              <a:rPr sz="2550" b="1">
                <a:solidFill>
                  <a:srgbClr val="F3F5FA"/>
                </a:solidFill>
                <a:latin typeface="Helvetica Neue"/>
                <a:ea typeface="Helvetica Neue"/>
                <a:cs typeface="Helvetica Neue"/>
              </a:rPr>
              <a:t>Köprü</a:t>
            </a:r>
          </a:p>
        </p:txBody>
      </p:sp>
      <p:sp>
        <p:nvSpPr>
          <p:cNvPr id="11" name="">
            <a:extLst xmlns:a="http://schemas.openxmlformats.org/drawingml/2006/main">
              <a:ext uri="{FF2B5EF4-FFF2-40B4-BE49-F238E27FC236}">
                <a16:creationId xmlns:a16="http://schemas.microsoft.com/office/drawing/2014/main" id="{46CEB3A0-A562-47F4-86A0-B0E329F03451}"/>
              </a:ext>
            </a:extLst>
          </p:cNvPr>
          <p:cNvSpPr>
            <a:spLocks xmlns:a="http://schemas.openxmlformats.org/drawingml/2006/main" noGrp="1"/>
          </p:cNvSpPr>
          <p:nvPr/>
        </p:nvSpPr>
        <p:spPr>
          <a:xfrm xmlns:a="http://schemas.openxmlformats.org/drawingml/2006/main">
            <a:off x="6343650" y="4048125"/>
            <a:ext cx="2543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B2B8C9"/>
                </a:solidFill>
                <a:latin typeface="Helvetica Neue"/>
                <a:ea typeface="Helvetica Neue"/>
                <a:cs typeface="Helvetica Neue"/>
              </a:defRPr>
            </a:pPr>
            <a:r>
              <a:rPr sz="1875" b="0">
                <a:solidFill>
                  <a:srgbClr val="B2B8C9"/>
                </a:solidFill>
                <a:latin typeface="Helvetica Neue"/>
                <a:ea typeface="Helvetica Neue"/>
                <a:cs typeface="Helvetica Neue"/>
              </a:rPr>
              <a:t>Kazanana ait prompt</a:t>
            </a:r>
          </a:p>
        </p:txBody>
      </p:sp>
      <p:sp>
        <p:nvSpPr>
          <p:cNvPr id="12" name="">
            <a:extLst xmlns:a="http://schemas.openxmlformats.org/drawingml/2006/main">
              <a:ext uri="{FF2B5EF4-FFF2-40B4-BE49-F238E27FC236}">
                <a16:creationId xmlns:a16="http://schemas.microsoft.com/office/drawing/2014/main" id="{845D0FCA-0468-4BCC-874A-4FA9A9EB55C1}"/>
              </a:ext>
            </a:extLst>
          </p:cNvPr>
          <p:cNvSpPr>
            <a:spLocks xmlns:a="http://schemas.openxmlformats.org/drawingml/2006/main" noGrp="1"/>
          </p:cNvSpPr>
          <p:nvPr/>
        </p:nvSpPr>
        <p:spPr>
          <a:xfrm xmlns:a="http://schemas.openxmlformats.org/drawingml/2006/main">
            <a:off x="9210675" y="2628900"/>
            <a:ext cx="2428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B69AF7"/>
                </a:solidFill>
                <a:latin typeface="Helvetica Neue"/>
                <a:ea typeface="Helvetica Neue"/>
                <a:cs typeface="Helvetica Neue"/>
              </a:defRPr>
            </a:pPr>
            <a:r>
              <a:rPr sz="3600" b="1">
                <a:solidFill>
                  <a:srgbClr val="B69AF7"/>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55F21FF8-9F85-4736-AADD-B700B207BD48}"/>
              </a:ext>
            </a:extLst>
          </p:cNvPr>
          <p:cNvSpPr>
            <a:spLocks xmlns:a="http://schemas.openxmlformats.org/drawingml/2006/main" noGrp="1"/>
          </p:cNvSpPr>
          <p:nvPr/>
        </p:nvSpPr>
        <p:spPr>
          <a:xfrm xmlns:a="http://schemas.openxmlformats.org/drawingml/2006/main">
            <a:off x="9210675" y="34290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3F5FA"/>
                </a:solidFill>
                <a:latin typeface="Helvetica Neue"/>
                <a:ea typeface="Helvetica Neue"/>
                <a:cs typeface="Helvetica Neue"/>
              </a:defRPr>
            </a:pPr>
            <a:r>
              <a:rPr sz="2550" b="1">
                <a:solidFill>
                  <a:srgbClr val="F3F5FA"/>
                </a:solidFill>
                <a:latin typeface="Helvetica Neue"/>
                <a:ea typeface="Helvetica Neue"/>
                <a:cs typeface="Helvetica Neue"/>
              </a:rPr>
              <a:t>Director</a:t>
            </a:r>
          </a:p>
        </p:txBody>
      </p:sp>
      <p:sp>
        <p:nvSpPr>
          <p:cNvPr id="14" name="">
            <a:extLst xmlns:a="http://schemas.openxmlformats.org/drawingml/2006/main">
              <a:ext uri="{FF2B5EF4-FFF2-40B4-BE49-F238E27FC236}">
                <a16:creationId xmlns:a16="http://schemas.microsoft.com/office/drawing/2014/main" id="{03ED3E6C-3182-4A68-B46A-114538A648B9}"/>
              </a:ext>
            </a:extLst>
          </p:cNvPr>
          <p:cNvSpPr>
            <a:spLocks xmlns:a="http://schemas.openxmlformats.org/drawingml/2006/main" noGrp="1"/>
          </p:cNvSpPr>
          <p:nvPr/>
        </p:nvSpPr>
        <p:spPr>
          <a:xfrm xmlns:a="http://schemas.openxmlformats.org/drawingml/2006/main">
            <a:off x="9210675" y="4048125"/>
            <a:ext cx="2543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B2B8C9"/>
                </a:solidFill>
                <a:latin typeface="Helvetica Neue"/>
                <a:ea typeface="Helvetica Neue"/>
                <a:cs typeface="Helvetica Neue"/>
              </a:defRPr>
            </a:pPr>
            <a:r>
              <a:rPr sz="1875" b="0">
                <a:solidFill>
                  <a:srgbClr val="B2B8C9"/>
                </a:solidFill>
                <a:latin typeface="Helvetica Neue"/>
                <a:ea typeface="Helvetica Neue"/>
                <a:cs typeface="Helvetica Neue"/>
              </a:rPr>
              <a:t>Canlı video akışı</a:t>
            </a:r>
          </a:p>
        </p:txBody>
      </p:sp>
      <p:sp>
        <p:nvSpPr>
          <p:cNvPr id="15" name="">
            <a:extLst xmlns:a="http://schemas.openxmlformats.org/drawingml/2006/main">
              <a:ext uri="{FF2B5EF4-FFF2-40B4-BE49-F238E27FC236}">
                <a16:creationId xmlns:a16="http://schemas.microsoft.com/office/drawing/2014/main" id="{65251BFB-4D65-47B1-96B7-BED514963ED2}"/>
              </a:ext>
            </a:extLst>
          </p:cNvPr>
          <p:cNvSpPr>
            <a:spLocks xmlns:a="http://schemas.openxmlformats.org/drawingml/2006/main" noGrp="1"/>
          </p:cNvSpPr>
          <p:nvPr/>
        </p:nvSpPr>
        <p:spPr>
          <a:xfrm xmlns:a="http://schemas.openxmlformats.org/drawingml/2006/main">
            <a:off x="619125" y="51339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3F5FA"/>
                </a:solidFill>
                <a:latin typeface="Helvetica Neue"/>
                <a:ea typeface="Helvetica Neue"/>
                <a:cs typeface="Helvetica Neue"/>
              </a:defRPr>
            </a:pPr>
            <a:r>
              <a:rPr sz="2175" b="0">
                <a:solidFill>
                  <a:srgbClr val="F3F5FA"/>
                </a:solidFill>
                <a:latin typeface="Helvetica Neue"/>
                <a:ea typeface="Helvetica Neue"/>
                <a:cs typeface="Helvetica Neue"/>
              </a:rPr>
              <a:t>Seçenekler tur başında sabitlenir. Sonuç kontrattan okunur.</a:t>
            </a:r>
          </a:p>
        </p:txBody>
      </p:sp>
      <p:sp>
        <p:nvSpPr>
          <p:cNvPr id="16" name="">
            <a:extLst xmlns:a="http://schemas.openxmlformats.org/drawingml/2006/main">
              <a:ext uri="{FF2B5EF4-FFF2-40B4-BE49-F238E27FC236}">
                <a16:creationId xmlns:a16="http://schemas.microsoft.com/office/drawing/2014/main" id="{7171C2D0-3C41-459D-8F0E-83C4CEA428A6}"/>
              </a:ext>
            </a:extLst>
          </p:cNvPr>
          <p:cNvSpPr>
            <a:spLocks xmlns:a="http://schemas.openxmlformats.org/drawingml/2006/main" noGrp="1"/>
          </p:cNvSpPr>
          <p:nvPr/>
        </p:nvSpPr>
        <p:spPr>
          <a:xfrm xmlns:a="http://schemas.openxmlformats.org/drawingml/2006/main">
            <a:off x="619125" y="57245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B2B8C9"/>
                </a:solidFill>
                <a:latin typeface="Helvetica Neue"/>
                <a:ea typeface="Helvetica Neue"/>
                <a:cs typeface="Helvetica Neue"/>
              </a:defRPr>
            </a:pPr>
            <a:r>
              <a:rPr sz="1725" b="0">
                <a:solidFill>
                  <a:srgbClr val="B2B8C9"/>
                </a:solidFill>
                <a:latin typeface="Helvetica Neue"/>
                <a:ea typeface="Helvetica Neue"/>
                <a:cs typeface="Helvetica Neue"/>
              </a:rPr>
              <a:t>Oylama zincirde. Köprü ve video üretimi zincir dışında.</a:t>
            </a:r>
          </a:p>
        </p:txBody>
      </p:sp>
      <p:sp>
        <p:nvSpPr>
          <p:cNvPr id="17" name="">
            <a:extLst xmlns:a="http://schemas.openxmlformats.org/drawingml/2006/main">
              <a:ext uri="{FF2B5EF4-FFF2-40B4-BE49-F238E27FC236}">
                <a16:creationId xmlns:a16="http://schemas.microsoft.com/office/drawing/2014/main" id="{628A729B-45E1-4D17-80B1-A245196B5268}"/>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18" name="">
            <a:extLst xmlns:a="http://schemas.openxmlformats.org/drawingml/2006/main">
              <a:ext uri="{FF2B5EF4-FFF2-40B4-BE49-F238E27FC236}">
                <a16:creationId xmlns:a16="http://schemas.microsoft.com/office/drawing/2014/main" id="{695B10E5-F965-4DD1-9699-3DB54EF2CDD5}"/>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04 / 06</a:t>
            </a:r>
          </a:p>
        </p:txBody>
      </p:sp>
    </p:spTree>
    <p:extLst>
      <p:ext uri="{BB962C8B-B14F-4D97-AF65-F5344CB8AC3E}">
        <p14:creationId xmlns:p14="http://schemas.microsoft.com/office/powerpoint/2010/main" val="1802650542"/>
      </p:ext>
    </p:extLst>
  </p:cSld>
</p:sld>
</file>

<file path=ppt/slides/slide5.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B61286-7917-4665-A00D-7B07DD357E33}"/>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GERÇEK DENEME</a:t>
            </a:r>
          </a:p>
        </p:txBody>
      </p:sp>
      <p:sp>
        <p:nvSpPr>
          <p:cNvPr id="2" name="">
            <a:extLst xmlns:a="http://schemas.openxmlformats.org/drawingml/2006/main">
              <a:ext uri="{FF2B5EF4-FFF2-40B4-BE49-F238E27FC236}">
                <a16:creationId xmlns:a16="http://schemas.microsoft.com/office/drawing/2014/main" id="{563B6F24-09A5-4EFF-9098-A05A6FEB5BEE}"/>
              </a:ext>
            </a:extLst>
          </p:cNvPr>
          <p:cNvSpPr>
            <a:spLocks xmlns:a="http://schemas.openxmlformats.org/drawingml/2006/main" noGrp="1"/>
          </p:cNvSpPr>
          <p:nvPr/>
        </p:nvSpPr>
        <p:spPr>
          <a:xfrm xmlns:a="http://schemas.openxmlformats.org/drawingml/2006/main">
            <a:off x="609600" y="115252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F3F5FA"/>
                </a:solidFill>
                <a:latin typeface="Helvetica Neue"/>
                <a:ea typeface="Helvetica Neue"/>
                <a:cs typeface="Helvetica Neue"/>
              </a:defRPr>
            </a:pPr>
            <a:r>
              <a:rPr sz="4500" b="1">
                <a:solidFill>
                  <a:srgbClr val="F3F5FA"/>
                </a:solidFill>
                <a:latin typeface="Helvetica Neue"/>
                <a:ea typeface="Helvetica Neue"/>
                <a:cs typeface="Helvetica Neue"/>
              </a:rPr>
              <a:t>Çalışan akış, ölçülen sonuç</a:t>
            </a:r>
          </a:p>
        </p:txBody>
      </p:sp>
      <p:sp>
        <p:nvSpPr>
          <p:cNvPr id="3" name="">
            <a:extLst xmlns:a="http://schemas.openxmlformats.org/drawingml/2006/main">
              <a:ext uri="{FF2B5EF4-FFF2-40B4-BE49-F238E27FC236}">
                <a16:creationId xmlns:a16="http://schemas.microsoft.com/office/drawing/2014/main" id="{9FEB5DE7-FDD6-4F72-8725-30C1E526C034}"/>
              </a:ext>
            </a:extLst>
          </p:cNvPr>
          <p:cNvSpPr>
            <a:spLocks xmlns:a="http://schemas.openxmlformats.org/drawingml/2006/main" noGrp="1"/>
          </p:cNvSpPr>
          <p:nvPr/>
        </p:nvSpPr>
        <p:spPr>
          <a:xfrm xmlns:a="http://schemas.openxmlformats.org/drawingml/2006/main">
            <a:off x="609600" y="261937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800" b="1">
                <a:solidFill>
                  <a:srgbClr val="B69AF7"/>
                </a:solidFill>
                <a:latin typeface="Helvetica Neue"/>
                <a:ea typeface="Helvetica Neue"/>
                <a:cs typeface="Helvetica Neue"/>
              </a:defRPr>
            </a:pPr>
            <a:r>
              <a:rPr sz="7800" b="1">
                <a:solidFill>
                  <a:srgbClr val="B69AF7"/>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F65B71D8-91B6-4171-B091-8F508C31F02E}"/>
              </a:ext>
            </a:extLst>
          </p:cNvPr>
          <p:cNvSpPr>
            <a:spLocks xmlns:a="http://schemas.openxmlformats.org/drawingml/2006/main" noGrp="1"/>
          </p:cNvSpPr>
          <p:nvPr/>
        </p:nvSpPr>
        <p:spPr>
          <a:xfrm xmlns:a="http://schemas.openxmlformats.org/drawingml/2006/main">
            <a:off x="647700" y="3943350"/>
            <a:ext cx="285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3F5FA"/>
                </a:solidFill>
                <a:latin typeface="Helvetica Neue"/>
                <a:ea typeface="Helvetica Neue"/>
                <a:cs typeface="Helvetica Neue"/>
              </a:defRPr>
            </a:pPr>
            <a:r>
              <a:rPr sz="2325" b="1">
                <a:solidFill>
                  <a:srgbClr val="F3F5FA"/>
                </a:solidFill>
                <a:latin typeface="Helvetica Neue"/>
                <a:ea typeface="Helvetica Neue"/>
                <a:cs typeface="Helvetica Neue"/>
              </a:rPr>
              <a:t>oylama turu</a:t>
            </a:r>
          </a:p>
        </p:txBody>
      </p:sp>
      <p:sp>
        <p:nvSpPr>
          <p:cNvPr id="5" name="">
            <a:extLst xmlns:a="http://schemas.openxmlformats.org/drawingml/2006/main">
              <a:ext uri="{FF2B5EF4-FFF2-40B4-BE49-F238E27FC236}">
                <a16:creationId xmlns:a16="http://schemas.microsoft.com/office/drawing/2014/main" id="{D42508D0-334B-4F6A-8E59-50821DB158EF}"/>
              </a:ext>
            </a:extLst>
          </p:cNvPr>
          <p:cNvSpPr>
            <a:spLocks xmlns:a="http://schemas.openxmlformats.org/drawingml/2006/main" noGrp="1"/>
          </p:cNvSpPr>
          <p:nvPr/>
        </p:nvSpPr>
        <p:spPr>
          <a:xfrm xmlns:a="http://schemas.openxmlformats.org/drawingml/2006/main">
            <a:off x="4219575" y="2619375"/>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600" b="1">
                <a:solidFill>
                  <a:srgbClr val="B69AF7"/>
                </a:solidFill>
                <a:latin typeface="Helvetica Neue"/>
                <a:ea typeface="Helvetica Neue"/>
                <a:cs typeface="Helvetica Neue"/>
              </a:defRPr>
            </a:pPr>
            <a:r>
              <a:rPr sz="6600" b="1">
                <a:solidFill>
                  <a:srgbClr val="B69AF7"/>
                </a:solidFill>
                <a:latin typeface="Helvetica Neue"/>
                <a:ea typeface="Helvetica Neue"/>
                <a:cs typeface="Helvetica Neue"/>
              </a:rPr>
              <a:t>4,2–8,4</a:t>
            </a:r>
          </a:p>
        </p:txBody>
      </p:sp>
      <p:sp>
        <p:nvSpPr>
          <p:cNvPr id="6" name="">
            <a:extLst xmlns:a="http://schemas.openxmlformats.org/drawingml/2006/main">
              <a:ext uri="{FF2B5EF4-FFF2-40B4-BE49-F238E27FC236}">
                <a16:creationId xmlns:a16="http://schemas.microsoft.com/office/drawing/2014/main" id="{089FA82D-53CB-4FBE-AA23-11295308BA0D}"/>
              </a:ext>
            </a:extLst>
          </p:cNvPr>
          <p:cNvSpPr>
            <a:spLocks xmlns:a="http://schemas.openxmlformats.org/drawingml/2006/main" noGrp="1"/>
          </p:cNvSpPr>
          <p:nvPr/>
        </p:nvSpPr>
        <p:spPr>
          <a:xfrm xmlns:a="http://schemas.openxmlformats.org/drawingml/2006/main">
            <a:off x="4257675" y="3943350"/>
            <a:ext cx="5524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F3F5FA"/>
                </a:solidFill>
                <a:latin typeface="Helvetica Neue"/>
                <a:ea typeface="Helvetica Neue"/>
                <a:cs typeface="Helvetica Neue"/>
              </a:defRPr>
            </a:pPr>
            <a:r>
              <a:rPr sz="2175" b="1">
                <a:solidFill>
                  <a:srgbClr val="F3F5FA"/>
                </a:solidFill>
                <a:latin typeface="Helvetica Neue"/>
                <a:ea typeface="Helvetica Neue"/>
                <a:cs typeface="Helvetica Neue"/>
              </a:rPr>
              <a:t>saniyede ilk video parçası*</a:t>
            </a:r>
          </a:p>
        </p:txBody>
      </p:sp>
      <p:sp>
        <p:nvSpPr>
          <p:cNvPr id="7" name="">
            <a:extLst xmlns:a="http://schemas.openxmlformats.org/drawingml/2006/main">
              <a:ext uri="{FF2B5EF4-FFF2-40B4-BE49-F238E27FC236}">
                <a16:creationId xmlns:a16="http://schemas.microsoft.com/office/drawing/2014/main" id="{B81763E1-4A82-4BC5-9229-8059A5525F9F}"/>
              </a:ext>
            </a:extLst>
          </p:cNvPr>
          <p:cNvSpPr>
            <a:spLocks xmlns:a="http://schemas.openxmlformats.org/drawingml/2006/main" noGrp="1"/>
          </p:cNvSpPr>
          <p:nvPr/>
        </p:nvSpPr>
        <p:spPr>
          <a:xfrm xmlns:a="http://schemas.openxmlformats.org/drawingml/2006/main">
            <a:off x="10048875" y="2619375"/>
            <a:ext cx="1619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800" b="1">
                <a:solidFill>
                  <a:srgbClr val="46D39A"/>
                </a:solidFill>
                <a:latin typeface="Helvetica Neue"/>
                <a:ea typeface="Helvetica Neue"/>
                <a:cs typeface="Helvetica Neue"/>
              </a:defRPr>
            </a:pPr>
            <a:r>
              <a:rPr sz="7800" b="1">
                <a:solidFill>
                  <a:srgbClr val="46D39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90C1DCB-1AB5-4CF3-9FA1-179FC3751D94}"/>
              </a:ext>
            </a:extLst>
          </p:cNvPr>
          <p:cNvSpPr>
            <a:spLocks xmlns:a="http://schemas.openxmlformats.org/drawingml/2006/main" noGrp="1"/>
          </p:cNvSpPr>
          <p:nvPr/>
        </p:nvSpPr>
        <p:spPr>
          <a:xfrm xmlns:a="http://schemas.openxmlformats.org/drawingml/2006/main">
            <a:off x="10077450" y="3943350"/>
            <a:ext cx="1581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3F5FA"/>
                </a:solidFill>
                <a:latin typeface="Helvetica Neue"/>
                <a:ea typeface="Helvetica Neue"/>
                <a:cs typeface="Helvetica Neue"/>
              </a:defRPr>
            </a:pPr>
            <a:r>
              <a:rPr sz="2325" b="1">
                <a:solidFill>
                  <a:srgbClr val="F3F5FA"/>
                </a:solidFill>
                <a:latin typeface="Helvetica Neue"/>
                <a:ea typeface="Helvetica Neue"/>
                <a:cs typeface="Helvetica Neue"/>
              </a:rPr>
              <a:t>oturum</a:t>
            </a:r>
          </a:p>
        </p:txBody>
      </p:sp>
      <p:sp>
        <p:nvSpPr>
          <p:cNvPr id="9" name="">
            <a:extLst xmlns:a="http://schemas.openxmlformats.org/drawingml/2006/main">
              <a:ext uri="{FF2B5EF4-FFF2-40B4-BE49-F238E27FC236}">
                <a16:creationId xmlns:a16="http://schemas.microsoft.com/office/drawing/2014/main" id="{8A5780DC-C16C-48CE-ABF2-B938290E88EE}"/>
              </a:ext>
            </a:extLst>
          </p:cNvPr>
          <p:cNvSpPr>
            <a:spLocks xmlns:a="http://schemas.openxmlformats.org/drawingml/2006/main" noGrp="1"/>
          </p:cNvSpPr>
          <p:nvPr/>
        </p:nvSpPr>
        <p:spPr>
          <a:xfrm xmlns:a="http://schemas.openxmlformats.org/drawingml/2006/main">
            <a:off x="638175" y="49434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3F5FA"/>
                </a:solidFill>
                <a:latin typeface="Helvetica Neue"/>
                <a:ea typeface="Helvetica Neue"/>
                <a:cs typeface="Helvetica Neue"/>
              </a:defRPr>
            </a:pPr>
            <a:r>
              <a:rPr sz="2175" b="0">
                <a:solidFill>
                  <a:srgbClr val="F3F5FA"/>
                </a:solidFill>
                <a:latin typeface="Helvetica Neue"/>
                <a:ea typeface="Helvetica Neue"/>
                <a:cs typeface="Helvetica Neue"/>
              </a:rPr>
              <a:t>Monad testnet ve gerçek H3 Max Director bağlantısı</a:t>
            </a:r>
          </a:p>
        </p:txBody>
      </p:sp>
      <p:sp>
        <p:nvSpPr>
          <p:cNvPr id="10" name="">
            <a:extLst xmlns:a="http://schemas.openxmlformats.org/drawingml/2006/main">
              <a:ext uri="{FF2B5EF4-FFF2-40B4-BE49-F238E27FC236}">
                <a16:creationId xmlns:a16="http://schemas.microsoft.com/office/drawing/2014/main" id="{187387CF-13D4-4DD8-A23C-2DA1F9AF9256}"/>
              </a:ext>
            </a:extLst>
          </p:cNvPr>
          <p:cNvSpPr>
            <a:spLocks xmlns:a="http://schemas.openxmlformats.org/drawingml/2006/main" noGrp="1"/>
          </p:cNvSpPr>
          <p:nvPr/>
        </p:nvSpPr>
        <p:spPr>
          <a:xfrm xmlns:a="http://schemas.openxmlformats.org/drawingml/2006/main">
            <a:off x="638175" y="55435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2B8C9"/>
                </a:solidFill>
                <a:latin typeface="Helvetica Neue"/>
                <a:ea typeface="Helvetica Neue"/>
                <a:cs typeface="Helvetica Neue"/>
              </a:defRPr>
            </a:pPr>
            <a:r>
              <a:rPr sz="1650" b="0">
                <a:solidFill>
                  <a:srgbClr val="B2B8C9"/>
                </a:solidFill>
                <a:latin typeface="Helvetica Neue"/>
                <a:ea typeface="Helvetica Neue"/>
                <a:cs typeface="Helvetica Neue"/>
              </a:rPr>
              <a:t>* Kazanan modele iletildikten sonra. Tek oturum, üç mobil tarayıcı bağlamı.</a:t>
            </a:r>
          </a:p>
          <a:p xmlns:a="http://schemas.openxmlformats.org/drawingml/2006/main">
            <a:pPr>
              <a:defRPr sz="1650" b="0">
                <a:solidFill>
                  <a:srgbClr val="B2B8C9"/>
                </a:solidFill>
                <a:latin typeface="Helvetica Neue"/>
                <a:ea typeface="Helvetica Neue"/>
                <a:cs typeface="Helvetica Neue"/>
              </a:defRPr>
            </a:pPr>
            <a:r>
              <a:rPr sz="1650" b="0">
                <a:solidFill>
                  <a:srgbClr val="B2B8C9"/>
                </a:solidFill>
                <a:latin typeface="Helvetica Neue"/>
                <a:ea typeface="Helvetica Neue"/>
                <a:cs typeface="Helvetica Neue"/>
              </a:rPr>
              <a:t>Fiziksel telefon testi değildir. Zincirde sonuçlandırma süresi hariçtir.</a:t>
            </a:r>
          </a:p>
        </p:txBody>
      </p:sp>
      <p:sp>
        <p:nvSpPr>
          <p:cNvPr id="11" name="">
            <a:extLst xmlns:a="http://schemas.openxmlformats.org/drawingml/2006/main">
              <a:ext uri="{FF2B5EF4-FFF2-40B4-BE49-F238E27FC236}">
                <a16:creationId xmlns:a16="http://schemas.microsoft.com/office/drawing/2014/main" id="{250C0558-C55C-4FBE-88B3-2A2BD64D0C36}"/>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12" name="">
            <a:extLst xmlns:a="http://schemas.openxmlformats.org/drawingml/2006/main">
              <a:ext uri="{FF2B5EF4-FFF2-40B4-BE49-F238E27FC236}">
                <a16:creationId xmlns:a16="http://schemas.microsoft.com/office/drawing/2014/main" id="{A89D372C-D6E3-4632-BFA4-71E7E1AB7FB4}"/>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05 / 06</a:t>
            </a:r>
          </a:p>
        </p:txBody>
      </p:sp>
    </p:spTree>
    <p:extLst>
      <p:ext uri="{BB962C8B-B14F-4D97-AF65-F5344CB8AC3E}">
        <p14:creationId xmlns:p14="http://schemas.microsoft.com/office/powerpoint/2010/main" val="1914746729"/>
      </p:ext>
    </p:extLst>
  </p:cSld>
</p:sld>
</file>

<file path=ppt/slides/slide6.xml><?xml version="1.0" encoding="utf-8"?>
<p:sld xmlns:p="http://schemas.openxmlformats.org/presentationml/2006/main">
  <p:cSld>
    <p:bg>
      <p:bgPr>
        <a:solidFill xmlns:a="http://schemas.openxmlformats.org/drawingml/2006/main">
          <a:srgbClr val="0B0D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AC5926-2ED2-419B-8A24-4A80387CFC7C}"/>
              </a:ext>
            </a:extLst>
          </p:cNvPr>
          <p:cNvSpPr>
            <a:spLocks xmlns:a="http://schemas.openxmlformats.org/drawingml/2006/main" noGrp="1"/>
          </p:cNvSpPr>
          <p:nvPr/>
        </p:nvSpPr>
        <p:spPr>
          <a:xfrm xmlns:a="http://schemas.openxmlformats.org/drawingml/2006/main">
            <a:off x="609600" y="504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B69AF7"/>
                </a:solidFill>
                <a:latin typeface="Helvetica Neue"/>
                <a:ea typeface="Helvetica Neue"/>
                <a:cs typeface="Helvetica Neue"/>
              </a:defRPr>
            </a:pPr>
            <a:r>
              <a:rPr sz="1500" b="1">
                <a:solidFill>
                  <a:srgbClr val="B69AF7"/>
                </a:solidFill>
                <a:latin typeface="Helvetica Neue"/>
                <a:ea typeface="Helvetica Neue"/>
                <a:cs typeface="Helvetica Neue"/>
              </a:rPr>
              <a:t>INSCRIBI DIRECTOR</a:t>
            </a:r>
          </a:p>
        </p:txBody>
      </p:sp>
      <p:sp>
        <p:nvSpPr>
          <p:cNvPr id="2" name="">
            <a:extLst xmlns:a="http://schemas.openxmlformats.org/drawingml/2006/main">
              <a:ext uri="{FF2B5EF4-FFF2-40B4-BE49-F238E27FC236}">
                <a16:creationId xmlns:a16="http://schemas.microsoft.com/office/drawing/2014/main" id="{122C2CA5-8B1A-4E5D-A3ED-E8534F443432}"/>
              </a:ext>
            </a:extLst>
          </p:cNvPr>
          <p:cNvSpPr>
            <a:spLocks xmlns:a="http://schemas.openxmlformats.org/drawingml/2006/main" noGrp="1"/>
          </p:cNvSpPr>
          <p:nvPr/>
        </p:nvSpPr>
        <p:spPr>
          <a:xfrm xmlns:a="http://schemas.openxmlformats.org/drawingml/2006/main">
            <a:off x="609600" y="1104900"/>
            <a:ext cx="10953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550" b="1">
                <a:solidFill>
                  <a:srgbClr val="F3F5FA"/>
                </a:solidFill>
                <a:latin typeface="Helvetica Neue"/>
                <a:ea typeface="Helvetica Neue"/>
                <a:cs typeface="Helvetica Neue"/>
              </a:defRPr>
            </a:pPr>
            <a:r>
              <a:rPr sz="5550" b="1">
                <a:solidFill>
                  <a:srgbClr val="F3F5FA"/>
                </a:solidFill>
                <a:latin typeface="Helvetica Neue"/>
                <a:ea typeface="Helvetica Neue"/>
                <a:cs typeface="Helvetica Neue"/>
              </a:rPr>
              <a:t>Bir sonraki sahneyi</a:t>
            </a:r>
          </a:p>
          <a:p xmlns:a="http://schemas.openxmlformats.org/drawingml/2006/main">
            <a:pPr>
              <a:defRPr sz="5550" b="1">
                <a:solidFill>
                  <a:srgbClr val="F3F5FA"/>
                </a:solidFill>
                <a:latin typeface="Helvetica Neue"/>
                <a:ea typeface="Helvetica Neue"/>
                <a:cs typeface="Helvetica Neue"/>
              </a:defRPr>
            </a:pPr>
            <a:r>
              <a:rPr sz="5550" b="1">
                <a:solidFill>
                  <a:srgbClr val="F3F5FA"/>
                </a:solidFill>
                <a:latin typeface="Helvetica Neue"/>
                <a:ea typeface="Helvetica Neue"/>
                <a:cs typeface="Helvetica Neue"/>
              </a:rPr>
              <a:t>birlikte seçelim</a:t>
            </a:r>
          </a:p>
        </p:txBody>
      </p:sp>
      <p:sp>
        <p:nvSpPr>
          <p:cNvPr id="3" name="">
            <a:extLst xmlns:a="http://schemas.openxmlformats.org/drawingml/2006/main">
              <a:ext uri="{FF2B5EF4-FFF2-40B4-BE49-F238E27FC236}">
                <a16:creationId xmlns:a16="http://schemas.microsoft.com/office/drawing/2014/main" id="{F8321A07-82FD-4970-90E2-0B8A5805FC4C}"/>
              </a:ext>
            </a:extLst>
          </p:cNvPr>
          <p:cNvSpPr>
            <a:spLocks xmlns:a="http://schemas.openxmlformats.org/drawingml/2006/main" noGrp="1"/>
          </p:cNvSpPr>
          <p:nvPr/>
        </p:nvSpPr>
        <p:spPr>
          <a:xfrm xmlns:a="http://schemas.openxmlformats.org/drawingml/2006/main">
            <a:off x="638175" y="32385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B2B8C9"/>
                </a:solidFill>
                <a:latin typeface="Helvetica Neue"/>
                <a:ea typeface="Helvetica Neue"/>
                <a:cs typeface="Helvetica Neue"/>
              </a:defRPr>
            </a:pPr>
            <a:r>
              <a:rPr sz="2250" b="0">
                <a:solidFill>
                  <a:srgbClr val="B2B8C9"/>
                </a:solidFill>
                <a:latin typeface="Helvetica Neue"/>
                <a:ea typeface="Helvetica Neue"/>
                <a:cs typeface="Helvetica Neue"/>
              </a:rPr>
              <a:t>Canlı yayınlar ve etkinlikler için ortak hikâye deneyimi</a:t>
            </a:r>
          </a:p>
        </p:txBody>
      </p:sp>
      <p:sp>
        <p:nvSpPr>
          <p:cNvPr id="4" name="">
            <a:extLst xmlns:a="http://schemas.openxmlformats.org/drawingml/2006/main">
              <a:ext uri="{FF2B5EF4-FFF2-40B4-BE49-F238E27FC236}">
                <a16:creationId xmlns:a16="http://schemas.microsoft.com/office/drawing/2014/main" id="{92968DFA-2F9F-4975-896A-D726C1808FEF}"/>
              </a:ext>
            </a:extLst>
          </p:cNvPr>
          <p:cNvSpPr>
            <a:spLocks xmlns:a="http://schemas.openxmlformats.org/drawingml/2006/main" noGrp="1"/>
          </p:cNvSpPr>
          <p:nvPr/>
        </p:nvSpPr>
        <p:spPr>
          <a:xfrm xmlns:a="http://schemas.openxmlformats.org/drawingml/2006/main">
            <a:off x="619125" y="4086225"/>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B69AF7"/>
                </a:solidFill>
                <a:latin typeface="Helvetica Neue"/>
                <a:ea typeface="Helvetica Neue"/>
                <a:cs typeface="Helvetica Neue"/>
              </a:defRPr>
            </a:pPr>
            <a:r>
              <a:rPr sz="3900" b="1">
                <a:solidFill>
                  <a:srgbClr val="B69AF7"/>
                </a:solidFill>
                <a:latin typeface="Helvetica Neue"/>
                <a:ea typeface="Helvetica Neue"/>
                <a:cs typeface="Helvetica Neue"/>
              </a:rPr>
              <a:t>live.inscribi.com</a:t>
            </a:r>
          </a:p>
        </p:txBody>
      </p:sp>
      <p:sp>
        <p:nvSpPr>
          <p:cNvPr id="5" name="">
            <a:extLst xmlns:a="http://schemas.openxmlformats.org/drawingml/2006/main">
              <a:ext uri="{FF2B5EF4-FFF2-40B4-BE49-F238E27FC236}">
                <a16:creationId xmlns:a16="http://schemas.microsoft.com/office/drawing/2014/main" id="{52BF75C5-EB3C-4D43-840F-7100771AE39C}"/>
              </a:ext>
            </a:extLst>
          </p:cNvPr>
          <p:cNvSpPr>
            <a:spLocks xmlns:a="http://schemas.openxmlformats.org/drawingml/2006/main" noGrp="1"/>
          </p:cNvSpPr>
          <p:nvPr/>
        </p:nvSpPr>
        <p:spPr>
          <a:xfrm xmlns:a="http://schemas.openxmlformats.org/drawingml/2006/main">
            <a:off x="619125" y="526732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3F5FA"/>
                </a:solidFill>
                <a:latin typeface="Helvetica Neue"/>
                <a:ea typeface="Helvetica Neue"/>
                <a:cs typeface="Helvetica Neue"/>
              </a:defRPr>
            </a:pPr>
            <a:r>
              <a:rPr sz="1950" b="1">
                <a:solidFill>
                  <a:srgbClr val="F3F5FA"/>
                </a:solidFill>
                <a:latin typeface="Helvetica Neue"/>
                <a:ea typeface="Helvetica Neue"/>
                <a:cs typeface="Helvetica Neue"/>
              </a:rPr>
              <a:t>Dilanur Nigar Kaymak</a:t>
            </a:r>
          </a:p>
        </p:txBody>
      </p:sp>
      <p:sp>
        <p:nvSpPr>
          <p:cNvPr id="6" name="">
            <a:extLst xmlns:a="http://schemas.openxmlformats.org/drawingml/2006/main">
              <a:ext uri="{FF2B5EF4-FFF2-40B4-BE49-F238E27FC236}">
                <a16:creationId xmlns:a16="http://schemas.microsoft.com/office/drawing/2014/main" id="{F9FA82DE-E7EA-40D1-87BE-BA4EB4F3523F}"/>
              </a:ext>
            </a:extLst>
          </p:cNvPr>
          <p:cNvSpPr>
            <a:spLocks xmlns:a="http://schemas.openxmlformats.org/drawingml/2006/main" noGrp="1"/>
          </p:cNvSpPr>
          <p:nvPr/>
        </p:nvSpPr>
        <p:spPr>
          <a:xfrm xmlns:a="http://schemas.openxmlformats.org/drawingml/2006/main">
            <a:off x="619125" y="573405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B2B8C9"/>
                </a:solidFill>
                <a:latin typeface="Helvetica Neue"/>
                <a:ea typeface="Helvetica Neue"/>
                <a:cs typeface="Helvetica Neue"/>
              </a:defRPr>
            </a:pPr>
            <a:r>
              <a:rPr sz="1575" b="0">
                <a:solidFill>
                  <a:srgbClr val="B2B8C9"/>
                </a:solidFill>
                <a:latin typeface="Helvetica Neue"/>
                <a:ea typeface="Helvetica Neue"/>
                <a:cs typeface="Helvetica Neue"/>
              </a:rPr>
              <a:t>Hikâye ve anlatım</a:t>
            </a:r>
          </a:p>
        </p:txBody>
      </p:sp>
      <p:sp>
        <p:nvSpPr>
          <p:cNvPr id="7" name="">
            <a:extLst xmlns:a="http://schemas.openxmlformats.org/drawingml/2006/main">
              <a:ext uri="{FF2B5EF4-FFF2-40B4-BE49-F238E27FC236}">
                <a16:creationId xmlns:a16="http://schemas.microsoft.com/office/drawing/2014/main" id="{72237374-6AC9-4C4F-8EBB-47D6206B250F}"/>
              </a:ext>
            </a:extLst>
          </p:cNvPr>
          <p:cNvSpPr>
            <a:spLocks xmlns:a="http://schemas.openxmlformats.org/drawingml/2006/main" noGrp="1"/>
          </p:cNvSpPr>
          <p:nvPr/>
        </p:nvSpPr>
        <p:spPr>
          <a:xfrm xmlns:a="http://schemas.openxmlformats.org/drawingml/2006/main">
            <a:off x="4410075" y="526732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3F5FA"/>
                </a:solidFill>
                <a:latin typeface="Helvetica Neue"/>
                <a:ea typeface="Helvetica Neue"/>
                <a:cs typeface="Helvetica Neue"/>
              </a:defRPr>
            </a:pPr>
            <a:r>
              <a:rPr sz="1950" b="1">
                <a:solidFill>
                  <a:srgbClr val="F3F5FA"/>
                </a:solidFill>
                <a:latin typeface="Helvetica Neue"/>
                <a:ea typeface="Helvetica Neue"/>
                <a:cs typeface="Helvetica Neue"/>
              </a:rPr>
              <a:t>Yakup Gündüz</a:t>
            </a:r>
          </a:p>
        </p:txBody>
      </p:sp>
      <p:sp>
        <p:nvSpPr>
          <p:cNvPr id="8" name="">
            <a:extLst xmlns:a="http://schemas.openxmlformats.org/drawingml/2006/main">
              <a:ext uri="{FF2B5EF4-FFF2-40B4-BE49-F238E27FC236}">
                <a16:creationId xmlns:a16="http://schemas.microsoft.com/office/drawing/2014/main" id="{30AEAA9B-669F-489B-AF61-542278484CF0}"/>
              </a:ext>
            </a:extLst>
          </p:cNvPr>
          <p:cNvSpPr>
            <a:spLocks xmlns:a="http://schemas.openxmlformats.org/drawingml/2006/main" noGrp="1"/>
          </p:cNvSpPr>
          <p:nvPr/>
        </p:nvSpPr>
        <p:spPr>
          <a:xfrm xmlns:a="http://schemas.openxmlformats.org/drawingml/2006/main">
            <a:off x="4410075" y="573405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B2B8C9"/>
                </a:solidFill>
                <a:latin typeface="Helvetica Neue"/>
                <a:ea typeface="Helvetica Neue"/>
                <a:cs typeface="Helvetica Neue"/>
              </a:defRPr>
            </a:pPr>
            <a:r>
              <a:rPr sz="1575" b="0">
                <a:solidFill>
                  <a:srgbClr val="B2B8C9"/>
                </a:solidFill>
                <a:latin typeface="Helvetica Neue"/>
                <a:ea typeface="Helvetica Neue"/>
                <a:cs typeface="Helvetica Neue"/>
              </a:rPr>
              <a:t>Ürün tasarımı ve uygulama</a:t>
            </a:r>
          </a:p>
        </p:txBody>
      </p:sp>
      <p:sp>
        <p:nvSpPr>
          <p:cNvPr id="9" name="">
            <a:extLst xmlns:a="http://schemas.openxmlformats.org/drawingml/2006/main">
              <a:ext uri="{FF2B5EF4-FFF2-40B4-BE49-F238E27FC236}">
                <a16:creationId xmlns:a16="http://schemas.microsoft.com/office/drawing/2014/main" id="{C7657329-41B2-4F38-A5EA-D2454C5D36C1}"/>
              </a:ext>
            </a:extLst>
          </p:cNvPr>
          <p:cNvSpPr>
            <a:spLocks xmlns:a="http://schemas.openxmlformats.org/drawingml/2006/main" noGrp="1"/>
          </p:cNvSpPr>
          <p:nvPr/>
        </p:nvSpPr>
        <p:spPr>
          <a:xfrm xmlns:a="http://schemas.openxmlformats.org/drawingml/2006/main">
            <a:off x="8201025" y="526732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3F5FA"/>
                </a:solidFill>
                <a:latin typeface="Helvetica Neue"/>
                <a:ea typeface="Helvetica Neue"/>
                <a:cs typeface="Helvetica Neue"/>
              </a:defRPr>
            </a:pPr>
            <a:r>
              <a:rPr sz="1950" b="1">
                <a:solidFill>
                  <a:srgbClr val="F3F5FA"/>
                </a:solidFill>
                <a:latin typeface="Helvetica Neue"/>
                <a:ea typeface="Helvetica Neue"/>
                <a:cs typeface="Helvetica Neue"/>
              </a:rPr>
              <a:t>Kaan Demir</a:t>
            </a:r>
          </a:p>
        </p:txBody>
      </p:sp>
      <p:sp>
        <p:nvSpPr>
          <p:cNvPr id="10" name="">
            <a:extLst xmlns:a="http://schemas.openxmlformats.org/drawingml/2006/main">
              <a:ext uri="{FF2B5EF4-FFF2-40B4-BE49-F238E27FC236}">
                <a16:creationId xmlns:a16="http://schemas.microsoft.com/office/drawing/2014/main" id="{64DA6262-34B5-4AB0-94B9-71A2C3812AAC}"/>
              </a:ext>
            </a:extLst>
          </p:cNvPr>
          <p:cNvSpPr>
            <a:spLocks xmlns:a="http://schemas.openxmlformats.org/drawingml/2006/main" noGrp="1"/>
          </p:cNvSpPr>
          <p:nvPr/>
        </p:nvSpPr>
        <p:spPr>
          <a:xfrm xmlns:a="http://schemas.openxmlformats.org/drawingml/2006/main">
            <a:off x="8201025" y="573405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B2B8C9"/>
                </a:solidFill>
                <a:latin typeface="Helvetica Neue"/>
                <a:ea typeface="Helvetica Neue"/>
                <a:cs typeface="Helvetica Neue"/>
              </a:defRPr>
            </a:pPr>
            <a:r>
              <a:rPr sz="1575" b="0">
                <a:solidFill>
                  <a:srgbClr val="B2B8C9"/>
                </a:solidFill>
                <a:latin typeface="Helvetica Neue"/>
                <a:ea typeface="Helvetica Neue"/>
                <a:cs typeface="Helvetica Neue"/>
              </a:rPr>
              <a:t>Monad ve sunucu entegrasyonu</a:t>
            </a:r>
          </a:p>
        </p:txBody>
      </p:sp>
      <p:sp>
        <p:nvSpPr>
          <p:cNvPr id="11" name="">
            <a:extLst xmlns:a="http://schemas.openxmlformats.org/drawingml/2006/main">
              <a:ext uri="{FF2B5EF4-FFF2-40B4-BE49-F238E27FC236}">
                <a16:creationId xmlns:a16="http://schemas.microsoft.com/office/drawing/2014/main" id="{7163B28F-4A9A-49BD-AA31-94A55A041472}"/>
              </a:ext>
            </a:extLst>
          </p:cNvPr>
          <p:cNvSpPr>
            <a:spLocks xmlns:a="http://schemas.openxmlformats.org/drawingml/2006/main" noGrp="1"/>
          </p:cNvSpPr>
          <p:nvPr/>
        </p:nvSpPr>
        <p:spPr>
          <a:xfrm xmlns:a="http://schemas.openxmlformats.org/drawingml/2006/main">
            <a:off x="609600" y="63055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B8C9"/>
                </a:solidFill>
                <a:latin typeface="Helvetica Neue"/>
                <a:ea typeface="Helvetica Neue"/>
                <a:cs typeface="Helvetica Neue"/>
              </a:defRPr>
            </a:pPr>
            <a:r>
              <a:rPr sz="1425" b="0">
                <a:solidFill>
                  <a:srgbClr val="B2B8C9"/>
                </a:solidFill>
                <a:latin typeface="Helvetica Neue"/>
                <a:ea typeface="Helvetica Neue"/>
                <a:cs typeface="Helvetica Neue"/>
              </a:rPr>
              <a:t>inscribi director</a:t>
            </a:r>
          </a:p>
        </p:txBody>
      </p:sp>
      <p:sp>
        <p:nvSpPr>
          <p:cNvPr id="12" name="">
            <a:extLst xmlns:a="http://schemas.openxmlformats.org/drawingml/2006/main">
              <a:ext uri="{FF2B5EF4-FFF2-40B4-BE49-F238E27FC236}">
                <a16:creationId xmlns:a16="http://schemas.microsoft.com/office/drawing/2014/main" id="{2F221ADA-6CF1-4D26-9D88-E6CFC7F2C9FE}"/>
              </a:ext>
            </a:extLst>
          </p:cNvPr>
          <p:cNvSpPr>
            <a:spLocks xmlns:a="http://schemas.openxmlformats.org/drawingml/2006/main" noGrp="1"/>
          </p:cNvSpPr>
          <p:nvPr/>
        </p:nvSpPr>
        <p:spPr>
          <a:xfrm xmlns:a="http://schemas.openxmlformats.org/drawingml/2006/main">
            <a:off x="10782300" y="63055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2B8C9"/>
                </a:solidFill>
                <a:latin typeface="Helvetica Neue"/>
                <a:ea typeface="Helvetica Neue"/>
                <a:cs typeface="Helvetica Neue"/>
              </a:defRPr>
            </a:pPr>
            <a:r>
              <a:rPr sz="1350" b="0">
                <a:solidFill>
                  <a:srgbClr val="B2B8C9"/>
                </a:solidFill>
                <a:latin typeface="Helvetica Neue"/>
                <a:ea typeface="Helvetica Neue"/>
                <a:cs typeface="Helvetica Neue"/>
              </a:rPr>
              <a:t>06 / 06</a:t>
            </a:r>
          </a:p>
        </p:txBody>
      </p:sp>
    </p:spTree>
    <p:extLst>
      <p:ext uri="{BB962C8B-B14F-4D97-AF65-F5344CB8AC3E}">
        <p14:creationId xmlns:p14="http://schemas.microsoft.com/office/powerpoint/2010/main" val="1126420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2026-09-26T11:42:57.2780000Z</dcterms:created>
  <dcterms:modified xsi:type="dcterms:W3CDTF">2026-09-26T11:42:57.2780000Z</dcterms:modified>
</coreProperties>
</file>